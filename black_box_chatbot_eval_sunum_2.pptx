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6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6756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6"/>
          </a:solidFill>
          <a:ln w="12700">
            <a:solidFill>
              <a:srgbClr val="0718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C7B7"/>
          </a:solidFill>
          <a:ln w="12700">
            <a:solidFill>
              <a:srgbClr val="20C7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6131D"/>
          </a:solidFill>
          <a:ln w="12700">
            <a:solidFill>
              <a:srgbClr val="06131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384048" y="6734556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Black-box Chatbot / RAG Evaluation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566928" y="1234440"/>
            <a:ext cx="6949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Black-box Chatbot / RAG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Automation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03504" y="27432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72E5D9"/>
                </a:solidFill>
              </a:rPr>
              <a:t>DeepEval + GEval ile Java Selenium/Cucumber otomasyonundan gelen chatbot çıktılarının değerlendirilmesi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" y="3520440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EF6262"/>
          </a:solidFill>
          <a:ln w="12700">
            <a:solidFill>
              <a:srgbClr val="EF626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731520" y="3602736"/>
            <a:ext cx="969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7FAFC"/>
                </a:solidFill>
              </a:rPr>
              <a:t>RAGAS yok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993392" y="3520440"/>
            <a:ext cx="1508760" cy="329184"/>
          </a:xfrm>
          <a:prstGeom prst="roundRect">
            <a:avLst>
              <a:gd name="adj" fmla="val 16667"/>
            </a:avLst>
          </a:prstGeom>
          <a:solidFill>
            <a:srgbClr val="F39B3D"/>
          </a:solidFill>
          <a:ln w="12700">
            <a:solidFill>
              <a:srgbClr val="F39B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2103120" y="3602736"/>
            <a:ext cx="1289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1826"/>
                </a:solidFill>
              </a:rPr>
              <a:t>Manual review yok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703320" y="3520440"/>
            <a:ext cx="1691640" cy="329184"/>
          </a:xfrm>
          <a:prstGeom prst="roundRect">
            <a:avLst>
              <a:gd name="adj" fmla="val 16667"/>
            </a:avLst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3813048" y="3602736"/>
            <a:ext cx="1472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1826"/>
                </a:solidFill>
              </a:rPr>
              <a:t>Retrieval metric yok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577840" y="3520440"/>
            <a:ext cx="1051560" cy="329184"/>
          </a:xfrm>
          <a:prstGeom prst="roundRect">
            <a:avLst>
              <a:gd name="adj" fmla="val 16667"/>
            </a:avLst>
          </a:prstGeom>
          <a:solidFill>
            <a:srgbClr val="20C7B7"/>
          </a:solidFill>
          <a:ln w="12700">
            <a:solidFill>
              <a:srgbClr val="20C7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5687568" y="3602736"/>
            <a:ext cx="8321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1826"/>
                </a:solidFill>
              </a:rPr>
              <a:t>Black-box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863840" y="1143000"/>
            <a:ext cx="3429000" cy="4297680"/>
          </a:xfrm>
          <a:prstGeom prst="roundRect">
            <a:avLst>
              <a:gd name="adj" fmla="val 3200"/>
            </a:avLst>
          </a:prstGeom>
          <a:solidFill>
            <a:srgbClr val="0B2A3D"/>
          </a:solidFill>
          <a:ln w="8890">
            <a:solidFill>
              <a:srgbClr val="20C7B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8183880" y="1463040"/>
            <a:ext cx="2788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 fikir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165592" y="1947672"/>
            <a:ext cx="283464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F7FAFC"/>
                </a:solidFill>
              </a:rPr>
              <a:t>Chatbot sadece input/output olarak görülür</a:t>
            </a:r>
            <a:endParaRPr lang="en-US" sz="1300" dirty="0"/>
          </a:p>
          <a:p>
            <a:r>
              <a:rPr lang="en-US" sz="1300" dirty="0">
                <a:solidFill>
                  <a:srgbClr val="F7FAFC"/>
                </a:solidFill>
              </a:rPr>
              <a:t>Java UI otomasyonu çıktıyı toplar</a:t>
            </a:r>
            <a:endParaRPr lang="en-US" sz="1300" dirty="0"/>
          </a:p>
          <a:p>
            <a:r>
              <a:rPr lang="en-US" sz="1300" dirty="0">
                <a:solidFill>
                  <a:srgbClr val="F7FAFC"/>
                </a:solidFill>
              </a:rPr>
              <a:t>Python DeepEval paketi çıktıyı değerlendirir</a:t>
            </a:r>
            <a:endParaRPr lang="en-US" sz="1300" dirty="0"/>
          </a:p>
          <a:p>
            <a:r>
              <a:rPr lang="en-US" sz="1300" dirty="0">
                <a:solidFill>
                  <a:srgbClr val="F7FAFC"/>
                </a:solidFill>
              </a:rPr>
              <a:t>Sonuç: PASS / FAIL / ERROR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384280" y="6725412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A8B7C4"/>
                </a:solidFill>
              </a:rPr>
              <a:t>01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6"/>
          </a:solidFill>
          <a:ln w="12700">
            <a:solidFill>
              <a:srgbClr val="0718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C7B7"/>
          </a:solidFill>
          <a:ln w="12700">
            <a:solidFill>
              <a:srgbClr val="20C7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6131D"/>
          </a:solidFill>
          <a:ln w="12700">
            <a:solidFill>
              <a:srgbClr val="06131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384048" y="6734556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Yönetici Özeti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475488" y="32004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Şu ana kadar ne kurduk?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93776" y="768096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8B7C4"/>
                </a:solidFill>
              </a:rPr>
              <a:t>Proje artık “chatbot çağıran test” değil, ölçülebilir bir evaluation architecture olarak tasarlanıyor.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141732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102C3D"/>
          </a:solidFill>
          <a:ln w="8890">
            <a:solidFill>
              <a:srgbClr val="20C7B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2514600" cy="82296"/>
          </a:xfrm>
          <a:prstGeom prst="rect">
            <a:avLst/>
          </a:prstGeom>
          <a:solidFill>
            <a:srgbClr val="20C7B7"/>
          </a:solidFill>
          <a:ln w="12700">
            <a:solidFill>
              <a:srgbClr val="20C7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758952" y="1591056"/>
            <a:ext cx="2185416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Amaç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58952" y="1947672"/>
            <a:ext cx="2185416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8B7C4"/>
                </a:solidFill>
              </a:rPr>
              <a:t>Gerçek chatbot/RAG sistemini retrieved context görmeden black-box olarak test etmek.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3429000" y="141732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102C3D"/>
          </a:solidFill>
          <a:ln w="8890">
            <a:solidFill>
              <a:srgbClr val="F39B3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3429000" y="1417320"/>
            <a:ext cx="2514600" cy="82296"/>
          </a:xfrm>
          <a:prstGeom prst="rect">
            <a:avLst/>
          </a:prstGeom>
          <a:solidFill>
            <a:srgbClr val="F39B3D"/>
          </a:solidFill>
          <a:ln w="12700">
            <a:solidFill>
              <a:srgbClr val="F39B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3593592" y="1591056"/>
            <a:ext cx="2185416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Karar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93592" y="1947672"/>
            <a:ext cx="2185416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8B7C4"/>
                </a:solidFill>
              </a:rPr>
              <a:t>RAGAS ve retrieval metrikleri çıkarıldı; DeepEval + GEval ekseni seçildi.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263640" y="141732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102C3D"/>
          </a:solidFill>
          <a:ln w="889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6263640" y="1417320"/>
            <a:ext cx="2514600" cy="8229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6428232" y="1591056"/>
            <a:ext cx="2185416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Otomasyon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28232" y="1947672"/>
            <a:ext cx="2185416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8B7C4"/>
                </a:solidFill>
              </a:rPr>
              <a:t>Java Selenium + Cucumber chatbot UI’ı oynatır ve JSON payload üretir.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9098280" y="141732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102C3D"/>
          </a:solidFill>
          <a:ln w="8890">
            <a:solidFill>
              <a:srgbClr val="B987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9098280" y="1417320"/>
            <a:ext cx="2514600" cy="82296"/>
          </a:xfrm>
          <a:prstGeom prst="rect">
            <a:avLst/>
          </a:prstGeom>
          <a:solidFill>
            <a:srgbClr val="B987FF"/>
          </a:solidFill>
          <a:ln w="12700">
            <a:solidFill>
              <a:srgbClr val="B98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9262872" y="1591056"/>
            <a:ext cx="2185416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62872" y="1947672"/>
            <a:ext cx="2185416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8B7C4"/>
                </a:solidFill>
              </a:rPr>
              <a:t>Python paketi Java’dan gelen actual output/turns değerlerini yargılar.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1051560" y="3977640"/>
            <a:ext cx="10058400" cy="1325880"/>
          </a:xfrm>
          <a:prstGeom prst="roundRect">
            <a:avLst>
              <a:gd name="adj" fmla="val 8276"/>
            </a:avLst>
          </a:prstGeom>
          <a:solidFill>
            <a:srgbClr val="0E3144"/>
          </a:solidFill>
          <a:ln w="8890">
            <a:solidFill>
              <a:srgbClr val="36576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1234440" y="4233672"/>
            <a:ext cx="1143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2E5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Önemli ilke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063240" y="4041648"/>
            <a:ext cx="75438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7FAFC"/>
                </a:solidFill>
              </a:rPr>
              <a:t>Test edilen chatbot’un retrieved chunk listesi bilinmediği için retrieval kalitesi ölçülmez. Varsa sadece reference_context’e göre cevap grounded mı diye bakılır.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384280" y="6725412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A8B7C4"/>
                </a:solidFill>
              </a:rPr>
              <a:t>02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6"/>
          </a:solidFill>
          <a:ln w="12700">
            <a:solidFill>
              <a:srgbClr val="0718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C7B7"/>
          </a:solidFill>
          <a:ln w="12700">
            <a:solidFill>
              <a:srgbClr val="20C7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6131D"/>
          </a:solidFill>
          <a:ln w="12700">
            <a:solidFill>
              <a:srgbClr val="06131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384048" y="6734556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Tanımı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475488" y="32004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Black-box kısıtları: Neyi bilemiyoruz?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93776" y="768096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8B7C4"/>
                </a:solidFill>
              </a:rPr>
              <a:t>Gerçek sistem sadece kullanıcı mesajı alıyor ve final cevap döndürüyor.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1234440"/>
            <a:ext cx="2743200" cy="4114800"/>
          </a:xfrm>
          <a:prstGeom prst="roundRect">
            <a:avLst>
              <a:gd name="adj" fmla="val 4000"/>
            </a:avLst>
          </a:prstGeom>
          <a:solidFill>
            <a:srgbClr val="102C3D"/>
          </a:solidFill>
          <a:ln w="8890">
            <a:solidFill>
              <a:srgbClr val="20C7B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960120" y="1536192"/>
            <a:ext cx="22860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Görebildiklerimiz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60120" y="2011680"/>
            <a:ext cx="228600" cy="228600"/>
          </a:xfrm>
          <a:prstGeom prst="ellipse">
            <a:avLst/>
          </a:prstGeom>
          <a:solidFill>
            <a:srgbClr val="6BCB77"/>
          </a:solidFill>
          <a:ln w="12700">
            <a:solidFill>
              <a:srgbClr val="6BCB7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1280160" y="1993392"/>
            <a:ext cx="19202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input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60120" y="2468880"/>
            <a:ext cx="228600" cy="228600"/>
          </a:xfrm>
          <a:prstGeom prst="ellipse">
            <a:avLst/>
          </a:prstGeom>
          <a:solidFill>
            <a:srgbClr val="6BCB77"/>
          </a:solidFill>
          <a:ln w="12700">
            <a:solidFill>
              <a:srgbClr val="6BCB7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1280160" y="2450592"/>
            <a:ext cx="19202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Assistant final output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60120" y="2926080"/>
            <a:ext cx="228600" cy="228600"/>
          </a:xfrm>
          <a:prstGeom prst="ellipse">
            <a:avLst/>
          </a:prstGeom>
          <a:solidFill>
            <a:srgbClr val="6BCB77"/>
          </a:solidFill>
          <a:ln w="12700">
            <a:solidFill>
              <a:srgbClr val="6BCB7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1280160" y="2907792"/>
            <a:ext cx="19202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Golden expected output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60120" y="3383280"/>
            <a:ext cx="228600" cy="228600"/>
          </a:xfrm>
          <a:prstGeom prst="ellipse">
            <a:avLst/>
          </a:prstGeom>
          <a:solidFill>
            <a:srgbClr val="6BCB77"/>
          </a:solidFill>
          <a:ln w="12700">
            <a:solidFill>
              <a:srgbClr val="6BCB7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1280160" y="3364992"/>
            <a:ext cx="19202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context (varsa)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1234440"/>
            <a:ext cx="2743200" cy="4114800"/>
          </a:xfrm>
          <a:prstGeom prst="roundRect">
            <a:avLst>
              <a:gd name="adj" fmla="val 4000"/>
            </a:avLst>
          </a:prstGeom>
          <a:solidFill>
            <a:srgbClr val="102C3D"/>
          </a:solidFill>
          <a:ln w="8890">
            <a:solidFill>
              <a:srgbClr val="EF626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4937760" y="1536192"/>
            <a:ext cx="22860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Göremediklerimiz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937760" y="2011680"/>
            <a:ext cx="228600" cy="228600"/>
          </a:xfrm>
          <a:prstGeom prst="ellipse">
            <a:avLst/>
          </a:prstGeom>
          <a:solidFill>
            <a:srgbClr val="EF6262"/>
          </a:solidFill>
          <a:ln w="12700">
            <a:solidFill>
              <a:srgbClr val="EF626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5257800" y="1993392"/>
            <a:ext cx="19202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Retrieved chunks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937760" y="2468880"/>
            <a:ext cx="228600" cy="228600"/>
          </a:xfrm>
          <a:prstGeom prst="ellipse">
            <a:avLst/>
          </a:prstGeom>
          <a:solidFill>
            <a:srgbClr val="EF6262"/>
          </a:solidFill>
          <a:ln w="12700">
            <a:solidFill>
              <a:srgbClr val="EF626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5257800" y="2450592"/>
            <a:ext cx="19202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Retriever ranking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37760" y="2926080"/>
            <a:ext cx="228600" cy="228600"/>
          </a:xfrm>
          <a:prstGeom prst="ellipse">
            <a:avLst/>
          </a:prstGeom>
          <a:solidFill>
            <a:srgbClr val="EF6262"/>
          </a:solidFill>
          <a:ln w="12700">
            <a:solidFill>
              <a:srgbClr val="EF626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5257800" y="2907792"/>
            <a:ext cx="19202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 scores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37760" y="3383280"/>
            <a:ext cx="228600" cy="228600"/>
          </a:xfrm>
          <a:prstGeom prst="ellipse">
            <a:avLst/>
          </a:prstGeom>
          <a:solidFill>
            <a:srgbClr val="EF6262"/>
          </a:solidFill>
          <a:ln w="12700">
            <a:solidFill>
              <a:srgbClr val="EF626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5257800" y="3364992"/>
            <a:ext cx="19202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listesi / trace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703320" y="3246120"/>
            <a:ext cx="704088" cy="0"/>
          </a:xfrm>
          <a:prstGeom prst="line">
            <a:avLst/>
          </a:prstGeom>
          <a:noFill/>
          <a:ln w="22860">
            <a:solidFill>
              <a:srgbClr val="A8B7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7680960" y="3246120"/>
            <a:ext cx="685800" cy="0"/>
          </a:xfrm>
          <a:prstGeom prst="line">
            <a:avLst/>
          </a:prstGeom>
          <a:noFill/>
          <a:ln w="22860">
            <a:solidFill>
              <a:srgbClr val="A8B7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8549640" y="1234440"/>
            <a:ext cx="2971800" cy="4114800"/>
          </a:xfrm>
          <a:prstGeom prst="roundRect">
            <a:avLst>
              <a:gd name="adj" fmla="val 3692"/>
            </a:avLst>
          </a:prstGeom>
          <a:solidFill>
            <a:srgbClr val="0E3144"/>
          </a:solidFill>
          <a:ln w="8890">
            <a:solidFill>
              <a:srgbClr val="F39B3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8823960" y="1536192"/>
            <a:ext cx="23774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39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Sonuç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823960" y="1975104"/>
            <a:ext cx="233172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50" dirty="0">
                <a:solidFill>
                  <a:srgbClr val="F7FAFC"/>
                </a:solidFill>
              </a:rPr>
              <a:t>Retrieval metrikleri doğrudan ölçülemez</a:t>
            </a:r>
            <a:endParaRPr lang="en-US" sz="1150" dirty="0"/>
          </a:p>
          <a:p>
            <a:r>
              <a:rPr lang="en-US" sz="1150" dirty="0">
                <a:solidFill>
                  <a:srgbClr val="F7FAFC"/>
                </a:solidFill>
              </a:rPr>
              <a:t>Context precision/recall kullanılmaz</a:t>
            </a:r>
            <a:endParaRPr lang="en-US" sz="1150" dirty="0"/>
          </a:p>
          <a:p>
            <a:r>
              <a:rPr lang="en-US" sz="1150" dirty="0">
                <a:solidFill>
                  <a:srgbClr val="F7FAFC"/>
                </a:solidFill>
              </a:rPr>
              <a:t>Değerlendirme answer quality + groundedness + conversation behavior olur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1384280" y="6725412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A8B7C4"/>
                </a:solidFill>
              </a:rPr>
              <a:t>03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6"/>
          </a:solidFill>
          <a:ln w="12700">
            <a:solidFill>
              <a:srgbClr val="0718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C7B7"/>
          </a:solidFill>
          <a:ln w="12700">
            <a:solidFill>
              <a:srgbClr val="20C7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6131D"/>
          </a:solidFill>
          <a:ln w="12700">
            <a:solidFill>
              <a:srgbClr val="06131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384048" y="6734556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Karar Haritası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475488" y="32004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Neyi seçtik, neyi bilinçli olarak dışarıda bıraktık?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93776" y="768096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8B7C4"/>
                </a:solidFill>
              </a:rPr>
              <a:t>Metrik seti black-box gerçekliğine göre daraltıldı.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1280160"/>
            <a:ext cx="5303520" cy="4480560"/>
          </a:xfrm>
          <a:prstGeom prst="roundRect">
            <a:avLst>
              <a:gd name="adj" fmla="val 2449"/>
            </a:avLst>
          </a:prstGeom>
          <a:solidFill>
            <a:srgbClr val="0A2637"/>
          </a:solidFill>
          <a:ln w="889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914400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6BC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Dahil edilenler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0120" y="2057400"/>
            <a:ext cx="4389120" cy="2697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F7FAFC"/>
                </a:solidFill>
              </a:rPr>
              <a:t>DeepEval framework</a:t>
            </a:r>
            <a:endParaRPr lang="en-US" sz="1300" dirty="0"/>
          </a:p>
          <a:p>
            <a:r>
              <a:rPr lang="en-US" sz="1300" dirty="0">
                <a:solidFill>
                  <a:srgbClr val="F7FAFC"/>
                </a:solidFill>
              </a:rPr>
              <a:t>GEval + ConversationalGEval</a:t>
            </a:r>
            <a:endParaRPr lang="en-US" sz="1300" dirty="0"/>
          </a:p>
          <a:p>
            <a:r>
              <a:rPr lang="en-US" sz="1300" dirty="0">
                <a:solidFill>
                  <a:srgbClr val="F7FAFC"/>
                </a:solidFill>
              </a:rPr>
              <a:t>Reference-context groundedness</a:t>
            </a:r>
            <a:endParaRPr lang="en-US" sz="1300" dirty="0"/>
          </a:p>
          <a:p>
            <a:r>
              <a:rPr lang="en-US" sz="1300" dirty="0">
                <a:solidFill>
                  <a:srgbClr val="F7FAFC"/>
                </a:solidFill>
              </a:rPr>
              <a:t>Answer correctness / relevancy</a:t>
            </a:r>
            <a:endParaRPr lang="en-US" sz="1300" dirty="0"/>
          </a:p>
          <a:p>
            <a:r>
              <a:rPr lang="en-US" sz="1300" dirty="0">
                <a:solidFill>
                  <a:srgbClr val="F7FAFC"/>
                </a:solidFill>
              </a:rPr>
              <a:t>Multi-turn davranış metrikleri</a:t>
            </a:r>
            <a:endParaRPr lang="en-US" sz="1300" dirty="0"/>
          </a:p>
          <a:p>
            <a:r>
              <a:rPr lang="en-US" sz="1300" dirty="0">
                <a:solidFill>
                  <a:srgbClr val="F7FAFC"/>
                </a:solidFill>
              </a:rPr>
              <a:t>PASS / FAIL / ERROR standardı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280160"/>
            <a:ext cx="5303520" cy="4480560"/>
          </a:xfrm>
          <a:prstGeom prst="roundRect">
            <a:avLst>
              <a:gd name="adj" fmla="val 2449"/>
            </a:avLst>
          </a:prstGeom>
          <a:solidFill>
            <a:srgbClr val="2A1721"/>
          </a:solidFill>
          <a:ln w="8890">
            <a:solidFill>
              <a:srgbClr val="EF626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6537960" y="1554480"/>
            <a:ext cx="29260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9B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Dışarıda bırakılanlar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83680" y="2057400"/>
            <a:ext cx="4343400" cy="2697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F7FAFC"/>
                </a:solidFill>
              </a:rPr>
              <a:t>RAGAS</a:t>
            </a:r>
            <a:endParaRPr lang="en-US" sz="1300" dirty="0"/>
          </a:p>
          <a:p>
            <a:r>
              <a:rPr lang="en-US" sz="1300" dirty="0">
                <a:solidFill>
                  <a:srgbClr val="F7FAFC"/>
                </a:solidFill>
              </a:rPr>
              <a:t>Manual review</a:t>
            </a:r>
            <a:endParaRPr lang="en-US" sz="1300" dirty="0"/>
          </a:p>
          <a:p>
            <a:r>
              <a:rPr lang="en-US" sz="1300" dirty="0">
                <a:solidFill>
                  <a:srgbClr val="F7FAFC"/>
                </a:solidFill>
              </a:rPr>
              <a:t>Recall@k / MRR / nDCG</a:t>
            </a:r>
            <a:endParaRPr lang="en-US" sz="1300" dirty="0"/>
          </a:p>
          <a:p>
            <a:r>
              <a:rPr lang="en-US" sz="1300" dirty="0">
                <a:solidFill>
                  <a:srgbClr val="F7FAFC"/>
                </a:solidFill>
              </a:rPr>
              <a:t>Hit Rate</a:t>
            </a:r>
            <a:endParaRPr lang="en-US" sz="1300" dirty="0"/>
          </a:p>
          <a:p>
            <a:r>
              <a:rPr lang="en-US" sz="1300" dirty="0">
                <a:solidFill>
                  <a:srgbClr val="F7FAFC"/>
                </a:solidFill>
              </a:rPr>
              <a:t>Context Precision / Recall</a:t>
            </a:r>
            <a:endParaRPr lang="en-US" sz="1300" dirty="0"/>
          </a:p>
          <a:p>
            <a:r>
              <a:rPr lang="en-US" sz="1300" dirty="0">
                <a:solidFill>
                  <a:srgbClr val="F7FAFC"/>
                </a:solidFill>
              </a:rPr>
              <a:t>Retrieved context sadakati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057400" y="5925312"/>
            <a:ext cx="8046720" cy="384048"/>
          </a:xfrm>
          <a:prstGeom prst="roundRect">
            <a:avLst>
              <a:gd name="adj" fmla="val 28571"/>
            </a:avLst>
          </a:prstGeom>
          <a:solidFill>
            <a:srgbClr val="102C3D"/>
          </a:solidFill>
          <a:ln w="8890">
            <a:solidFill>
              <a:srgbClr val="20C7B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2331720" y="6035040"/>
            <a:ext cx="74980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Neden? Çünkü sistem bize retrieval trace değil, yalnızca final chatbot cevabı veriyor.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384280" y="6725412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A8B7C4"/>
                </a:solidFill>
              </a:rPr>
              <a:t>04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6"/>
          </a:solidFill>
          <a:ln w="12700">
            <a:solidFill>
              <a:srgbClr val="0718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C7B7"/>
          </a:solidFill>
          <a:ln w="12700">
            <a:solidFill>
              <a:srgbClr val="20C7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6131D"/>
          </a:solidFill>
          <a:ln w="12700">
            <a:solidFill>
              <a:srgbClr val="06131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384048" y="6734556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Hedef Mimari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475488" y="32004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mimari: Java oynatır, Python yargılar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93776" y="768096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8B7C4"/>
                </a:solidFill>
              </a:rPr>
              <a:t>İki taraf arasında tek sözleşme JSON’dur.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" y="1188720"/>
            <a:ext cx="4800600" cy="4663440"/>
          </a:xfrm>
          <a:prstGeom prst="roundRect">
            <a:avLst>
              <a:gd name="adj" fmla="val 2353"/>
            </a:avLst>
          </a:prstGeom>
          <a:solidFill>
            <a:srgbClr val="0D2A3B"/>
          </a:solidFill>
          <a:ln w="889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960120" y="1508760"/>
            <a:ext cx="41148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58A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 Selenium + Cucumber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87552" y="1993392"/>
            <a:ext cx="406908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80" dirty="0">
                <a:solidFill>
                  <a:srgbClr val="F7FAFC"/>
                </a:solidFill>
              </a:rPr>
              <a:t>Browser açar</a:t>
            </a:r>
            <a:endParaRPr lang="en-US" sz="1280" dirty="0"/>
          </a:p>
          <a:p>
            <a:r>
              <a:rPr lang="en-US" sz="1280" dirty="0">
                <a:solidFill>
                  <a:srgbClr val="F7FAFC"/>
                </a:solidFill>
              </a:rPr>
              <a:t>Chatbot UI’da user_turns oynatır</a:t>
            </a:r>
            <a:endParaRPr lang="en-US" sz="1280" dirty="0"/>
          </a:p>
          <a:p>
            <a:r>
              <a:rPr lang="en-US" sz="1280" dirty="0">
                <a:solidFill>
                  <a:srgbClr val="F7FAFC"/>
                </a:solidFill>
              </a:rPr>
              <a:t>Assistant outputları toplar</a:t>
            </a:r>
            <a:endParaRPr lang="en-US" sz="1280" dirty="0"/>
          </a:p>
          <a:p>
            <a:r>
              <a:rPr lang="en-US" sz="1280" dirty="0">
                <a:solidFill>
                  <a:srgbClr val="F7FAFC"/>
                </a:solidFill>
              </a:rPr>
              <a:t>evaluation_input.json yazar</a:t>
            </a:r>
            <a:endParaRPr lang="en-US" sz="1280" dirty="0"/>
          </a:p>
          <a:p>
            <a:r>
              <a:rPr lang="en-US" sz="1280" dirty="0">
                <a:solidFill>
                  <a:srgbClr val="F7FAFC"/>
                </a:solidFill>
              </a:rPr>
              <a:t>Python CLI çağırır ve bekler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6675120" y="1188720"/>
            <a:ext cx="4800600" cy="4663440"/>
          </a:xfrm>
          <a:prstGeom prst="roundRect">
            <a:avLst>
              <a:gd name="adj" fmla="val 2353"/>
            </a:avLst>
          </a:prstGeom>
          <a:solidFill>
            <a:srgbClr val="102937"/>
          </a:solidFill>
          <a:ln w="8890">
            <a:solidFill>
              <a:srgbClr val="20C7B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6949440" y="1508760"/>
            <a:ext cx="40233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72E5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DeepEval Package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976872" y="1993392"/>
            <a:ext cx="406908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80" dirty="0">
                <a:solidFill>
                  <a:srgbClr val="F7FAFC"/>
                </a:solidFill>
              </a:rPr>
              <a:t>Chatbot’a gitmez</a:t>
            </a:r>
            <a:endParaRPr lang="en-US" sz="1280" dirty="0"/>
          </a:p>
          <a:p>
            <a:r>
              <a:rPr lang="en-US" sz="1280" dirty="0">
                <a:solidFill>
                  <a:srgbClr val="F7FAFC"/>
                </a:solidFill>
              </a:rPr>
              <a:t>Payload okur</a:t>
            </a:r>
            <a:endParaRPr lang="en-US" sz="1280" dirty="0"/>
          </a:p>
          <a:p>
            <a:r>
              <a:rPr lang="en-US" sz="1280" dirty="0">
                <a:solidFill>
                  <a:srgbClr val="F7FAFC"/>
                </a:solidFill>
              </a:rPr>
              <a:t>Metric set seçer</a:t>
            </a:r>
            <a:endParaRPr lang="en-US" sz="1280" dirty="0"/>
          </a:p>
          <a:p>
            <a:r>
              <a:rPr lang="en-US" sz="1280" dirty="0">
                <a:solidFill>
                  <a:srgbClr val="F7FAFC"/>
                </a:solidFill>
              </a:rPr>
              <a:t>DeepEval test case oluşturur</a:t>
            </a:r>
            <a:endParaRPr lang="en-US" sz="1280" dirty="0"/>
          </a:p>
          <a:p>
            <a:r>
              <a:rPr lang="en-US" sz="1280" dirty="0">
                <a:solidFill>
                  <a:srgbClr val="F7FAFC"/>
                </a:solidFill>
              </a:rPr>
              <a:t>JSON result + exit code döner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5623560" y="2743200"/>
            <a:ext cx="822960" cy="0"/>
          </a:xfrm>
          <a:prstGeom prst="line">
            <a:avLst/>
          </a:prstGeom>
          <a:noFill/>
          <a:ln w="22860">
            <a:solidFill>
              <a:srgbClr val="F39B3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5532120" y="2395728"/>
            <a:ext cx="10972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9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contract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46520" y="4114800"/>
            <a:ext cx="0" cy="0"/>
          </a:xfrm>
          <a:prstGeom prst="line">
            <a:avLst/>
          </a:prstGeom>
          <a:noFill/>
          <a:ln w="22860">
            <a:solidFill>
              <a:srgbClr val="6BCB7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5650992" y="4343400"/>
            <a:ext cx="868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C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 / FAIL / ERROR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384280" y="6725412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A8B7C4"/>
                </a:solidFill>
              </a:rPr>
              <a:t>05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6"/>
          </a:solidFill>
          <a:ln w="12700">
            <a:solidFill>
              <a:srgbClr val="0718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C7B7"/>
          </a:solidFill>
          <a:ln w="12700">
            <a:solidFill>
              <a:srgbClr val="20C7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6131D"/>
          </a:solidFill>
          <a:ln w="12700">
            <a:solidFill>
              <a:srgbClr val="06131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384048" y="6734556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Akış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475488" y="32004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Bir test case geldiğinde süreç nasıl ilerliyor?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93776" y="768096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8B7C4"/>
                </a:solidFill>
              </a:rPr>
              <a:t>Cucumber scenario’dan metric sonucuna kadar zincir.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102C3D"/>
          </a:solidFill>
          <a:ln w="889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704088" y="2148840"/>
            <a:ext cx="119786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Gherkin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" y="2487168"/>
            <a:ext cx="119786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test_id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075688" y="2468880"/>
            <a:ext cx="283464" cy="0"/>
          </a:xfrm>
          <a:prstGeom prst="line">
            <a:avLst/>
          </a:prstGeom>
          <a:noFill/>
          <a:ln w="22860">
            <a:solidFill>
              <a:srgbClr val="A8B7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2240280" y="192024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14384D"/>
          </a:solidFill>
          <a:ln w="8890">
            <a:solidFill>
              <a:srgbClr val="20C7B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2350008" y="2148840"/>
            <a:ext cx="119786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Selenium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50008" y="2487168"/>
            <a:ext cx="119786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action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721608" y="2468880"/>
            <a:ext cx="283464" cy="0"/>
          </a:xfrm>
          <a:prstGeom prst="line">
            <a:avLst/>
          </a:prstGeom>
          <a:noFill/>
          <a:ln w="22860">
            <a:solidFill>
              <a:srgbClr val="A8B7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3886200" y="192024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102C3D"/>
          </a:solidFill>
          <a:ln w="8890">
            <a:solidFill>
              <a:srgbClr val="F39B3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3995928" y="2148840"/>
            <a:ext cx="119786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Chatbot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95928" y="2487168"/>
            <a:ext cx="119786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367528" y="2468880"/>
            <a:ext cx="283464" cy="0"/>
          </a:xfrm>
          <a:prstGeom prst="line">
            <a:avLst/>
          </a:prstGeom>
          <a:noFill/>
          <a:ln w="22860">
            <a:solidFill>
              <a:srgbClr val="A8B7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5532120" y="192024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14384D"/>
          </a:solidFill>
          <a:ln w="889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5641848" y="2148840"/>
            <a:ext cx="119786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41848" y="2487168"/>
            <a:ext cx="119786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payload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013448" y="2468880"/>
            <a:ext cx="283464" cy="0"/>
          </a:xfrm>
          <a:prstGeom prst="line">
            <a:avLst/>
          </a:prstGeom>
          <a:noFill/>
          <a:ln w="22860">
            <a:solidFill>
              <a:srgbClr val="A8B7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7178040" y="192024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102C3D"/>
          </a:solidFill>
          <a:ln w="8890">
            <a:solidFill>
              <a:srgbClr val="B987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7287768" y="2148840"/>
            <a:ext cx="119786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CLI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287768" y="2487168"/>
            <a:ext cx="119786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659368" y="2468880"/>
            <a:ext cx="283464" cy="0"/>
          </a:xfrm>
          <a:prstGeom prst="line">
            <a:avLst/>
          </a:prstGeom>
          <a:noFill/>
          <a:ln w="22860">
            <a:solidFill>
              <a:srgbClr val="A8B7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8" name="Shape 26"/>
          <p:cNvSpPr/>
          <p:nvPr/>
        </p:nvSpPr>
        <p:spPr>
          <a:xfrm>
            <a:off x="8823960" y="192024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14384D"/>
          </a:solidFill>
          <a:ln w="8890">
            <a:solidFill>
              <a:srgbClr val="F6C8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8933688" y="2148840"/>
            <a:ext cx="119786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DeepEval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933688" y="2487168"/>
            <a:ext cx="119786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0305288" y="2468880"/>
            <a:ext cx="283464" cy="0"/>
          </a:xfrm>
          <a:prstGeom prst="line">
            <a:avLst/>
          </a:prstGeom>
          <a:noFill/>
          <a:ln w="22860">
            <a:solidFill>
              <a:srgbClr val="A8B7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32" name="Shape 30"/>
          <p:cNvSpPr/>
          <p:nvPr/>
        </p:nvSpPr>
        <p:spPr>
          <a:xfrm>
            <a:off x="10469880" y="192024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102C3D"/>
          </a:solidFill>
          <a:ln w="8890">
            <a:solidFill>
              <a:srgbClr val="EF626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10579608" y="2148840"/>
            <a:ext cx="119786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 Assert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579608" y="2487168"/>
            <a:ext cx="119786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143000" y="3749040"/>
            <a:ext cx="9921240" cy="731520"/>
          </a:xfrm>
          <a:prstGeom prst="roundRect">
            <a:avLst>
              <a:gd name="adj" fmla="val 15000"/>
            </a:avLst>
          </a:prstGeom>
          <a:solidFill>
            <a:srgbClr val="0B1220"/>
          </a:solidFill>
          <a:ln w="8890">
            <a:solidFill>
              <a:srgbClr val="233B5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1289304" y="3895344"/>
            <a:ext cx="96286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B7C9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evaluation_input.json  →  python -m chatbot_eval evaluate ...  →  evaluation_result.json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1828800" y="4892040"/>
            <a:ext cx="8595360" cy="594360"/>
          </a:xfrm>
          <a:prstGeom prst="roundRect">
            <a:avLst>
              <a:gd name="adj" fmla="val 18462"/>
            </a:avLst>
          </a:prstGeom>
          <a:solidFill>
            <a:srgbClr val="0E3144"/>
          </a:solidFill>
          <a:ln w="8890">
            <a:solidFill>
              <a:srgbClr val="36576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2103120" y="5047488"/>
            <a:ext cx="80467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sonucu DeepEval dönmeden kapanmaz: Java ProcessBuilder process.waitFor() ile sonucu bekler.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1384280" y="6725412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A8B7C4"/>
                </a:solidFill>
              </a:rPr>
              <a:t>06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6"/>
          </a:solidFill>
          <a:ln w="12700">
            <a:solidFill>
              <a:srgbClr val="0718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C7B7"/>
          </a:solidFill>
          <a:ln w="12700">
            <a:solidFill>
              <a:srgbClr val="20C7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6131D"/>
          </a:solidFill>
          <a:ln w="12700">
            <a:solidFill>
              <a:srgbClr val="06131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384048" y="6734556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Contract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475488" y="32004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Java ↔ Python sözleşmesi: JSON input ve JSON result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93776" y="768096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8B7C4"/>
                </a:solidFill>
              </a:rPr>
              <a:t>Language boundary net: Java Python internallerini bilmez; Python Selenium internallerini bilmez.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5074920" cy="4251960"/>
          </a:xfrm>
          <a:prstGeom prst="roundRect">
            <a:avLst>
              <a:gd name="adj" fmla="val 2581"/>
            </a:avLst>
          </a:prstGeom>
          <a:solidFill>
            <a:srgbClr val="0B1220"/>
          </a:solidFill>
          <a:ln w="8890">
            <a:solidFill>
              <a:srgbClr val="233B5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832104" y="1563624"/>
            <a:ext cx="4782312" cy="3959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B7C9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B7C9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"suite_type": "multi_turn",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B7C9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"test_id": "MT-005",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B7C9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"metric_focus": "correction_handling",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B7C9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"turns": [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B7C9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{"role":"user", "content":"Adresim İstanbul."},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B7C9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{"role":"assistant", "content":"..."}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B7C9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]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B7C9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6400800" y="1417320"/>
            <a:ext cx="5074920" cy="4251960"/>
          </a:xfrm>
          <a:prstGeom prst="roundRect">
            <a:avLst>
              <a:gd name="adj" fmla="val 2581"/>
            </a:avLst>
          </a:prstGeom>
          <a:solidFill>
            <a:srgbClr val="0B1220"/>
          </a:solidFill>
          <a:ln w="8890">
            <a:solidFill>
              <a:srgbClr val="233B5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6547104" y="1563624"/>
            <a:ext cx="4782312" cy="3959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B7C9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B7C9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"test_id": "MT-005",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B7C9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"status": "FAIL",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B7C9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"metrics": [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B7C9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{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B7C9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"key": "correction_handling",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B7C9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"score": 0.5,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B7C9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"threshold": 0.8,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B7C9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"reason": "..."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B7C9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}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B7C9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],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B7C9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"error": null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B7C9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2697480" y="1097280"/>
            <a:ext cx="10972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2E5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66760" y="1097280"/>
            <a:ext cx="10972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9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384280" y="6725412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A8B7C4"/>
                </a:solidFill>
              </a:rPr>
              <a:t>07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6"/>
          </a:solidFill>
          <a:ln w="12700">
            <a:solidFill>
              <a:srgbClr val="0718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C7B7"/>
          </a:solidFill>
          <a:ln w="12700">
            <a:solidFill>
              <a:srgbClr val="20C7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6131D"/>
          </a:solidFill>
          <a:ln w="12700">
            <a:solidFill>
              <a:srgbClr val="06131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384048" y="6734556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Sonuç Semantiği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475488" y="32004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 / FAIL / ERROR ayrımı neden kritik?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93776" y="768096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8B7C4"/>
                </a:solidFill>
              </a:rPr>
              <a:t>Metric fail bir teknik hata değildir; chatbot davranış sonucudur.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1417320"/>
            <a:ext cx="3246120" cy="3017520"/>
          </a:xfrm>
          <a:prstGeom prst="roundRect">
            <a:avLst>
              <a:gd name="adj" fmla="val 3636"/>
            </a:avLst>
          </a:prstGeom>
          <a:solidFill>
            <a:srgbClr val="102C3D"/>
          </a:solidFill>
          <a:ln w="889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3246120" cy="82296"/>
          </a:xfrm>
          <a:prstGeom prst="rect">
            <a:avLst/>
          </a:prstGeom>
          <a:solidFill>
            <a:srgbClr val="6BCB77"/>
          </a:solidFill>
          <a:ln w="12700">
            <a:solidFill>
              <a:srgbClr val="6BCB7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941832" y="1591056"/>
            <a:ext cx="2916936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41832" y="1947672"/>
            <a:ext cx="2916936" cy="2359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8B7C4"/>
                </a:solidFill>
              </a:rPr>
              <a:t>Test teknik olarak çalıştı. Seçilen tüm metrikler threshold üstünde.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4480560" y="1417320"/>
            <a:ext cx="3246120" cy="3017520"/>
          </a:xfrm>
          <a:prstGeom prst="roundRect">
            <a:avLst>
              <a:gd name="adj" fmla="val 3636"/>
            </a:avLst>
          </a:prstGeom>
          <a:solidFill>
            <a:srgbClr val="102C3D"/>
          </a:solidFill>
          <a:ln w="8890">
            <a:solidFill>
              <a:srgbClr val="F39B3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4480560" y="1417320"/>
            <a:ext cx="3246120" cy="82296"/>
          </a:xfrm>
          <a:prstGeom prst="rect">
            <a:avLst/>
          </a:prstGeom>
          <a:solidFill>
            <a:srgbClr val="F39B3D"/>
          </a:solidFill>
          <a:ln w="12700">
            <a:solidFill>
              <a:srgbClr val="F39B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4645152" y="1591056"/>
            <a:ext cx="2916936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45152" y="1947672"/>
            <a:ext cx="2916936" cy="2359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8B7C4"/>
                </a:solidFill>
              </a:rPr>
              <a:t>Test teknik olarak çalıştı. Chatbot cevabı veya metric skoru threshold altında.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8183880" y="1417320"/>
            <a:ext cx="3246120" cy="3017520"/>
          </a:xfrm>
          <a:prstGeom prst="roundRect">
            <a:avLst>
              <a:gd name="adj" fmla="val 3636"/>
            </a:avLst>
          </a:prstGeom>
          <a:solidFill>
            <a:srgbClr val="102C3D"/>
          </a:solidFill>
          <a:ln w="8890">
            <a:solidFill>
              <a:srgbClr val="EF626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8183880" y="1417320"/>
            <a:ext cx="3246120" cy="82296"/>
          </a:xfrm>
          <a:prstGeom prst="rect">
            <a:avLst/>
          </a:prstGeom>
          <a:solidFill>
            <a:srgbClr val="EF6262"/>
          </a:solidFill>
          <a:ln w="12700">
            <a:solidFill>
              <a:srgbClr val="EF626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8348472" y="1591056"/>
            <a:ext cx="2916936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48472" y="1947672"/>
            <a:ext cx="2916936" cy="2359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8B7C4"/>
                </a:solidFill>
              </a:rPr>
              <a:t>Test çalışamadı: API, SSL, rate limit, config, import, timeout veya runtime hatası.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1097280" y="5074920"/>
            <a:ext cx="9966960" cy="594360"/>
          </a:xfrm>
          <a:prstGeom prst="roundRect">
            <a:avLst>
              <a:gd name="adj" fmla="val 18462"/>
            </a:avLst>
          </a:prstGeom>
          <a:solidFill>
            <a:srgbClr val="102C3D"/>
          </a:solidFill>
          <a:ln w="8890">
            <a:solidFill>
              <a:srgbClr val="20C7B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1325880" y="5230368"/>
            <a:ext cx="95097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Örnek: “Metrics failed” → FAIL   |   429 RateLimit / SSL / ModuleNotFound → ERROR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384280" y="6725412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A8B7C4"/>
                </a:solidFill>
              </a:rPr>
              <a:t>08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6"/>
          </a:solidFill>
          <a:ln w="12700">
            <a:solidFill>
              <a:srgbClr val="0718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C7B7"/>
          </a:solidFill>
          <a:ln w="12700">
            <a:solidFill>
              <a:srgbClr val="20C7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6131D"/>
          </a:solidFill>
          <a:ln w="12700">
            <a:solidFill>
              <a:srgbClr val="06131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384048" y="6734556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Single-turn Değerlendirme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475488" y="32004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Single-turn metric selection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93776" y="768096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8B7C4"/>
                </a:solidFill>
              </a:rPr>
              <a:t>expected_behavior alanı hangi metrik setinin çalışacağını belirler.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123444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0D2D3A"/>
          </a:solidFill>
          <a:ln w="889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1097280" y="1554480"/>
            <a:ext cx="43891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BC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expected_behavior = answer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43000" y="2148840"/>
            <a:ext cx="228600" cy="228600"/>
          </a:xfrm>
          <a:prstGeom prst="ellipse">
            <a:avLst/>
          </a:prstGeom>
          <a:solidFill>
            <a:srgbClr val="6BCB77"/>
          </a:solidFill>
          <a:ln w="12700">
            <a:solidFill>
              <a:srgbClr val="6BCB7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1463040" y="2130552"/>
            <a:ext cx="19202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Correctness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143000" y="2606040"/>
            <a:ext cx="228600" cy="228600"/>
          </a:xfrm>
          <a:prstGeom prst="ellipse">
            <a:avLst/>
          </a:prstGeom>
          <a:solidFill>
            <a:srgbClr val="6BCB77"/>
          </a:solidFill>
          <a:ln w="12700">
            <a:solidFill>
              <a:srgbClr val="6BCB7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1463040" y="2587752"/>
            <a:ext cx="19202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Groundedness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143000" y="3063240"/>
            <a:ext cx="228600" cy="228600"/>
          </a:xfrm>
          <a:prstGeom prst="ellipse">
            <a:avLst/>
          </a:prstGeom>
          <a:solidFill>
            <a:srgbClr val="6BCB77"/>
          </a:solidFill>
          <a:ln w="12700">
            <a:solidFill>
              <a:srgbClr val="6BCB7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1463040" y="3044952"/>
            <a:ext cx="19202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Unsupported Claim Score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143000" y="3520440"/>
            <a:ext cx="228600" cy="228600"/>
          </a:xfrm>
          <a:prstGeom prst="ellipse">
            <a:avLst/>
          </a:prstGeom>
          <a:solidFill>
            <a:srgbClr val="6BCB77"/>
          </a:solidFill>
          <a:ln w="12700">
            <a:solidFill>
              <a:srgbClr val="6BCB7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1463040" y="3502152"/>
            <a:ext cx="19202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 Following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143000" y="3977640"/>
            <a:ext cx="228600" cy="228600"/>
          </a:xfrm>
          <a:prstGeom prst="ellipse">
            <a:avLst/>
          </a:prstGeom>
          <a:solidFill>
            <a:srgbClr val="6BCB77"/>
          </a:solidFill>
          <a:ln w="12700">
            <a:solidFill>
              <a:srgbClr val="6BCB7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1463040" y="3959352"/>
            <a:ext cx="19202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Relevancy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143000" y="4617720"/>
            <a:ext cx="39319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 Rejection çalışmaz.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123444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2A2411"/>
          </a:solidFill>
          <a:ln w="8890">
            <a:solidFill>
              <a:srgbClr val="F6C8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6720840" y="1554480"/>
            <a:ext cx="43891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6C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expected_behavior = reject_or_unknown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766560" y="2148840"/>
            <a:ext cx="228600" cy="228600"/>
          </a:xfrm>
          <a:prstGeom prst="ellipse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7086600" y="2130552"/>
            <a:ext cx="19202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Groundedness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766560" y="2606040"/>
            <a:ext cx="228600" cy="228600"/>
          </a:xfrm>
          <a:prstGeom prst="ellipse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7086600" y="2587752"/>
            <a:ext cx="19202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Unsupported Claim Score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766560" y="3063240"/>
            <a:ext cx="228600" cy="228600"/>
          </a:xfrm>
          <a:prstGeom prst="ellipse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7086600" y="3044952"/>
            <a:ext cx="19202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 Rejection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766560" y="3520440"/>
            <a:ext cx="228600" cy="228600"/>
          </a:xfrm>
          <a:prstGeom prst="ellipse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7086600" y="3502152"/>
            <a:ext cx="19202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 Following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766560" y="3977640"/>
            <a:ext cx="228600" cy="228600"/>
          </a:xfrm>
          <a:prstGeom prst="ellipse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7086600" y="3959352"/>
            <a:ext cx="19202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Relevancy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766560" y="4617720"/>
            <a:ext cx="39319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Correctness çalışmaz.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384280" y="6725412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A8B7C4"/>
                </a:solidFill>
              </a:rPr>
              <a:t>09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6"/>
          </a:solidFill>
          <a:ln w="12700">
            <a:solidFill>
              <a:srgbClr val="0718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C7B7"/>
          </a:solidFill>
          <a:ln w="12700">
            <a:solidFill>
              <a:srgbClr val="20C7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6131D"/>
          </a:solidFill>
          <a:ln w="12700">
            <a:solidFill>
              <a:srgbClr val="06131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384048" y="6734556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Single-turn Metrikler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475488" y="32004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Single-turn metriclerin rolü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93776" y="768096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8B7C4"/>
                </a:solidFill>
              </a:rPr>
              <a:t>Amaç: doğru cevap, grounded cevap ve uydurma iddia ayrımını otomatik yakalamak.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1234440"/>
            <a:ext cx="5074920" cy="1143000"/>
          </a:xfrm>
          <a:prstGeom prst="roundRect">
            <a:avLst>
              <a:gd name="adj" fmla="val 9600"/>
            </a:avLst>
          </a:prstGeom>
          <a:solidFill>
            <a:srgbClr val="102C3D"/>
          </a:solidFill>
          <a:ln w="889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932688" y="1435608"/>
            <a:ext cx="4617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Correctness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1764792"/>
            <a:ext cx="46177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output ile anlamsal uyum ve kritik bilgi eksikliği.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309360" y="1234440"/>
            <a:ext cx="5074920" cy="1143000"/>
          </a:xfrm>
          <a:prstGeom prst="roundRect">
            <a:avLst>
              <a:gd name="adj" fmla="val 9600"/>
            </a:avLst>
          </a:prstGeom>
          <a:solidFill>
            <a:srgbClr val="14384D"/>
          </a:solidFill>
          <a:ln w="8890">
            <a:solidFill>
              <a:srgbClr val="20C7B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6510528" y="1435608"/>
            <a:ext cx="4617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Groundedness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10528" y="1764792"/>
            <a:ext cx="46177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output iddiaları reference_context ile destekleniyor mu?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731520" y="2679192"/>
            <a:ext cx="5074920" cy="1143000"/>
          </a:xfrm>
          <a:prstGeom prst="roundRect">
            <a:avLst>
              <a:gd name="adj" fmla="val 9600"/>
            </a:avLst>
          </a:prstGeom>
          <a:solidFill>
            <a:srgbClr val="102C3D"/>
          </a:solidFill>
          <a:ln w="8890">
            <a:solidFill>
              <a:srgbClr val="F39B3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932688" y="2880360"/>
            <a:ext cx="4617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Unsupported Claim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32688" y="3209544"/>
            <a:ext cx="46177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Kısa cevabı cezalandırmadan uydurma iddiaları yakalar.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309360" y="2679192"/>
            <a:ext cx="5074920" cy="1143000"/>
          </a:xfrm>
          <a:prstGeom prst="roundRect">
            <a:avLst>
              <a:gd name="adj" fmla="val 9600"/>
            </a:avLst>
          </a:prstGeom>
          <a:solidFill>
            <a:srgbClr val="14384D"/>
          </a:solidFill>
          <a:ln w="8890">
            <a:solidFill>
              <a:srgbClr val="F6C8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6510528" y="2880360"/>
            <a:ext cx="4617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 Rejection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10528" y="3209544"/>
            <a:ext cx="46177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Kaynakta olmayan bilgi için uydurmadan reddetme davranışı.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731520" y="4123944"/>
            <a:ext cx="5074920" cy="1143000"/>
          </a:xfrm>
          <a:prstGeom prst="roundRect">
            <a:avLst>
              <a:gd name="adj" fmla="val 9600"/>
            </a:avLst>
          </a:prstGeom>
          <a:solidFill>
            <a:srgbClr val="102C3D"/>
          </a:solidFill>
          <a:ln w="889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932688" y="4325112"/>
            <a:ext cx="4617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 Following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2688" y="4654296"/>
            <a:ext cx="46177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 turdaki açık format/stil/kapsam talimatına uyum.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6309360" y="4123944"/>
            <a:ext cx="5074920" cy="1143000"/>
          </a:xfrm>
          <a:prstGeom prst="roundRect">
            <a:avLst>
              <a:gd name="adj" fmla="val 9600"/>
            </a:avLst>
          </a:prstGeom>
          <a:solidFill>
            <a:srgbClr val="14384D"/>
          </a:solidFill>
          <a:ln w="8890">
            <a:solidFill>
              <a:srgbClr val="B987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6510528" y="4325112"/>
            <a:ext cx="4617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Relevancy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10528" y="4654296"/>
            <a:ext cx="46177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Cevap kullanıcı input’una ilgili mi? DeepEval built-in.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11384280" y="6725412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A8B7C4"/>
                </a:solidFill>
              </a:rPr>
              <a:t>10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6"/>
          </a:solidFill>
          <a:ln w="12700">
            <a:solidFill>
              <a:srgbClr val="0718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C7B7"/>
          </a:solidFill>
          <a:ln w="12700">
            <a:solidFill>
              <a:srgbClr val="20C7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6131D"/>
          </a:solidFill>
          <a:ln w="12700">
            <a:solidFill>
              <a:srgbClr val="06131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384048" y="6734556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Multi-turn Değerlendirme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475488" y="32004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Multi-turn metric selection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93776" y="768096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8B7C4"/>
                </a:solidFill>
              </a:rPr>
              <a:t>metric_focus varsa sadece ilgili metrik çalışır; yoksa tüm multi-turn seti çalışabilir.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1188720"/>
            <a:ext cx="2743200" cy="4343400"/>
          </a:xfrm>
          <a:prstGeom prst="roundRect">
            <a:avLst>
              <a:gd name="adj" fmla="val 4000"/>
            </a:avLst>
          </a:prstGeom>
          <a:solidFill>
            <a:srgbClr val="102C3D"/>
          </a:solidFill>
          <a:ln w="8890">
            <a:solidFill>
              <a:srgbClr val="20C7B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1051560" y="1508760"/>
            <a:ext cx="2194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2E5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51560" y="210312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0B1220"/>
          </a:solidFill>
          <a:ln w="8890">
            <a:solidFill>
              <a:srgbClr val="233B5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1197864" y="2249424"/>
            <a:ext cx="1901952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B7C9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"metric_focus":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B7C9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"instruction_persistence"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3794760" y="2926080"/>
            <a:ext cx="914400" cy="0"/>
          </a:xfrm>
          <a:prstGeom prst="line">
            <a:avLst/>
          </a:prstGeom>
          <a:noFill/>
          <a:ln w="22860">
            <a:solidFill>
              <a:srgbClr val="F39B3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4892040" y="1188720"/>
            <a:ext cx="2743200" cy="4343400"/>
          </a:xfrm>
          <a:prstGeom prst="roundRect">
            <a:avLst>
              <a:gd name="adj" fmla="val 4000"/>
            </a:avLst>
          </a:prstGeom>
          <a:solidFill>
            <a:srgbClr val="102C3D"/>
          </a:solidFill>
          <a:ln w="8890">
            <a:solidFill>
              <a:srgbClr val="F39B3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5166360" y="1508760"/>
            <a:ext cx="2194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39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builder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66360" y="2148840"/>
            <a:ext cx="210312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20" dirty="0">
                <a:solidFill>
                  <a:srgbClr val="F7FAFC"/>
                </a:solidFill>
              </a:rPr>
              <a:t>metric_focus varsa → tek metric</a:t>
            </a:r>
            <a:endParaRPr lang="en-US" sz="1220" dirty="0"/>
          </a:p>
          <a:p>
            <a:r>
              <a:rPr lang="en-US" sz="1220" dirty="0">
                <a:solidFill>
                  <a:srgbClr val="F7FAFC"/>
                </a:solidFill>
              </a:rPr>
              <a:t>yoksa → tüm metric set</a:t>
            </a:r>
            <a:endParaRPr lang="en-US" sz="1220" dirty="0"/>
          </a:p>
          <a:p>
            <a:r>
              <a:rPr lang="en-US" sz="1220" dirty="0">
                <a:solidFill>
                  <a:srgbClr val="F7FAFC"/>
                </a:solidFill>
              </a:rPr>
              <a:t>debug ve quota için önemli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7909560" y="2926080"/>
            <a:ext cx="914400" cy="0"/>
          </a:xfrm>
          <a:prstGeom prst="line">
            <a:avLst/>
          </a:prstGeom>
          <a:noFill/>
          <a:ln w="22860">
            <a:solidFill>
              <a:srgbClr val="F39B3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9006840" y="1188720"/>
            <a:ext cx="2560320" cy="4343400"/>
          </a:xfrm>
          <a:prstGeom prst="roundRect">
            <a:avLst>
              <a:gd name="adj" fmla="val 4286"/>
            </a:avLst>
          </a:prstGeom>
          <a:solidFill>
            <a:srgbClr val="0D2A3B"/>
          </a:solidFill>
          <a:ln w="889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9281160" y="1508760"/>
            <a:ext cx="2011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BC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Çıktı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281160" y="2148840"/>
            <a:ext cx="228600" cy="228600"/>
          </a:xfrm>
          <a:prstGeom prst="ellipse">
            <a:avLst/>
          </a:prstGeom>
          <a:solidFill>
            <a:srgbClr val="6BCB77"/>
          </a:solidFill>
          <a:ln w="12700">
            <a:solidFill>
              <a:srgbClr val="6BCB7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9601200" y="2130552"/>
            <a:ext cx="19202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281160" y="2606040"/>
            <a:ext cx="228600" cy="228600"/>
          </a:xfrm>
          <a:prstGeom prst="ellipse">
            <a:avLst/>
          </a:prstGeom>
          <a:solidFill>
            <a:srgbClr val="6BCB77"/>
          </a:solidFill>
          <a:ln w="12700">
            <a:solidFill>
              <a:srgbClr val="6BCB7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9601200" y="2587752"/>
            <a:ext cx="19202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281160" y="3063240"/>
            <a:ext cx="228600" cy="228600"/>
          </a:xfrm>
          <a:prstGeom prst="ellipse">
            <a:avLst/>
          </a:prstGeom>
          <a:solidFill>
            <a:srgbClr val="6BCB77"/>
          </a:solidFill>
          <a:ln w="12700">
            <a:solidFill>
              <a:srgbClr val="6BCB7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9601200" y="3044952"/>
            <a:ext cx="19202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281160" y="3520440"/>
            <a:ext cx="228600" cy="228600"/>
          </a:xfrm>
          <a:prstGeom prst="ellipse">
            <a:avLst/>
          </a:prstGeom>
          <a:solidFill>
            <a:srgbClr val="6BCB77"/>
          </a:solidFill>
          <a:ln w="12700">
            <a:solidFill>
              <a:srgbClr val="6BCB7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9601200" y="3502152"/>
            <a:ext cx="19202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384280" y="6725412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A8B7C4"/>
                </a:solidFill>
              </a:rPr>
              <a:t>11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6"/>
          </a:solidFill>
          <a:ln w="12700">
            <a:solidFill>
              <a:srgbClr val="0718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C7B7"/>
          </a:solidFill>
          <a:ln w="12700">
            <a:solidFill>
              <a:srgbClr val="20C7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6131D"/>
          </a:solidFill>
          <a:ln w="12700">
            <a:solidFill>
              <a:srgbClr val="06131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384048" y="6734556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Multi-turn Metrikler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475488" y="32004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Multi-turn metriclerin rolü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93776" y="768096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8B7C4"/>
                </a:solidFill>
              </a:rPr>
              <a:t>Konuşma geçmişi, talimat devamlılığı, zamir çözme ve düzeltme davranışı ölçülür.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1417320"/>
            <a:ext cx="1920240" cy="4160520"/>
          </a:xfrm>
          <a:prstGeom prst="roundRect">
            <a:avLst>
              <a:gd name="adj" fmla="val 5714"/>
            </a:avLst>
          </a:prstGeom>
          <a:solidFill>
            <a:srgbClr val="102C3D"/>
          </a:solidFill>
          <a:ln w="889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896112" y="1691640"/>
            <a:ext cx="157276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 Memory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481328" y="2487168"/>
            <a:ext cx="420624" cy="420624"/>
          </a:xfrm>
          <a:prstGeom prst="ellipse">
            <a:avLst/>
          </a:prstGeom>
          <a:solidFill>
            <a:srgbClr val="6BCB77"/>
          </a:solidFill>
          <a:ln w="12700">
            <a:solidFill>
              <a:srgbClr val="6BCB7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896112" y="3200400"/>
            <a:ext cx="1572768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Kullanıcının verdiği bilgiyi sonraki turda hatırlama.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999232" y="1417320"/>
            <a:ext cx="1920240" cy="4160520"/>
          </a:xfrm>
          <a:prstGeom prst="roundRect">
            <a:avLst>
              <a:gd name="adj" fmla="val 5714"/>
            </a:avLst>
          </a:prstGeom>
          <a:solidFill>
            <a:srgbClr val="14384D"/>
          </a:solidFill>
          <a:ln w="8890">
            <a:solidFill>
              <a:srgbClr val="20C7B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3163824" y="1691640"/>
            <a:ext cx="157276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Retention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749040" y="2487168"/>
            <a:ext cx="420624" cy="420624"/>
          </a:xfrm>
          <a:prstGeom prst="ellipse">
            <a:avLst/>
          </a:prstGeom>
          <a:solidFill>
            <a:srgbClr val="20C7B7"/>
          </a:solidFill>
          <a:ln w="12700">
            <a:solidFill>
              <a:srgbClr val="20C7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3163824" y="3200400"/>
            <a:ext cx="1572768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Önceki turn’de verilen koşul/süre/bağlam bilgisini koruma.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266944" y="1417320"/>
            <a:ext cx="1920240" cy="4160520"/>
          </a:xfrm>
          <a:prstGeom prst="roundRect">
            <a:avLst>
              <a:gd name="adj" fmla="val 5714"/>
            </a:avLst>
          </a:prstGeom>
          <a:solidFill>
            <a:srgbClr val="102C3D"/>
          </a:solidFill>
          <a:ln w="889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5431536" y="1691640"/>
            <a:ext cx="157276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Coreference Resolution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16752" y="2487168"/>
            <a:ext cx="420624" cy="420624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5431536" y="3200400"/>
            <a:ext cx="1572768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“bu”, “o”, “az önceki” gibi referansları doğru çözme.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534656" y="1417320"/>
            <a:ext cx="1920240" cy="4160520"/>
          </a:xfrm>
          <a:prstGeom prst="roundRect">
            <a:avLst>
              <a:gd name="adj" fmla="val 5714"/>
            </a:avLst>
          </a:prstGeom>
          <a:solidFill>
            <a:srgbClr val="14384D"/>
          </a:solidFill>
          <a:ln w="8890">
            <a:solidFill>
              <a:srgbClr val="F6C8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7699248" y="1691640"/>
            <a:ext cx="157276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 Persistence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84464" y="2487168"/>
            <a:ext cx="420624" cy="420624"/>
          </a:xfrm>
          <a:prstGeom prst="ellipse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7699248" y="3200400"/>
            <a:ext cx="1572768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Önceki format/stil talimatını sonraki cevaplarda sürdürme.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802368" y="1417320"/>
            <a:ext cx="1920240" cy="4160520"/>
          </a:xfrm>
          <a:prstGeom prst="roundRect">
            <a:avLst>
              <a:gd name="adj" fmla="val 5714"/>
            </a:avLst>
          </a:prstGeom>
          <a:solidFill>
            <a:srgbClr val="102C3D"/>
          </a:solidFill>
          <a:ln w="8890">
            <a:solidFill>
              <a:srgbClr val="F39B3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9966960" y="1691640"/>
            <a:ext cx="157276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Correction Handling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552176" y="2487168"/>
            <a:ext cx="420624" cy="420624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9966960" y="3200400"/>
            <a:ext cx="1572768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Kullanıcı düzeltmesini eski bilgiye göre önceliklendirme.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384280" y="6725412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A8B7C4"/>
                </a:solidFill>
              </a:rPr>
              <a:t>12</a:t>
            </a:r>
            <a:endParaRPr lang="en-US" sz="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6"/>
          </a:solidFill>
          <a:ln w="12700">
            <a:solidFill>
              <a:srgbClr val="0718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C7B7"/>
          </a:solidFill>
          <a:ln w="12700">
            <a:solidFill>
              <a:srgbClr val="20C7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6131D"/>
          </a:solidFill>
          <a:ln w="12700">
            <a:solidFill>
              <a:srgbClr val="06131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384048" y="6734556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 Tasarımı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475488" y="32004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 CLI: tek resmi giriş noktası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93776" y="768096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8B7C4"/>
                </a:solidFill>
              </a:rPr>
              <a:t>BAT kullanılmaz; Java doğrudan Python CLI çağırır.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1234440"/>
            <a:ext cx="5577840" cy="3246120"/>
          </a:xfrm>
          <a:prstGeom prst="roundRect">
            <a:avLst>
              <a:gd name="adj" fmla="val 3380"/>
            </a:avLst>
          </a:prstGeom>
          <a:solidFill>
            <a:srgbClr val="0B1220"/>
          </a:solidFill>
          <a:ln w="8890">
            <a:solidFill>
              <a:srgbClr val="233B5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923544" y="1380744"/>
            <a:ext cx="5285232" cy="2953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B7C9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python -m chatbot_eval metrics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B7C9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python -m chatbot_eval metric instruction_persistence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B7C9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python -m chatbot_eval metric correction_handling MT-005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B7C9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python -m chatbot_eval evaluate evaluation_input.json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B7C9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python -m chatbot_eval evaluate evaluation_input.json correction_handling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6812280" y="1234440"/>
            <a:ext cx="4526280" cy="3246120"/>
          </a:xfrm>
          <a:prstGeom prst="roundRect">
            <a:avLst>
              <a:gd name="adj" fmla="val 3380"/>
            </a:avLst>
          </a:prstGeom>
          <a:solidFill>
            <a:srgbClr val="102C3D"/>
          </a:solidFill>
          <a:ln w="8890">
            <a:solidFill>
              <a:srgbClr val="20C7B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7086600" y="1554480"/>
            <a:ext cx="4023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72E5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Kullanım ayrımı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132320" y="2039112"/>
            <a:ext cx="361188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40" dirty="0">
                <a:solidFill>
                  <a:srgbClr val="F7FAFC"/>
                </a:solidFill>
              </a:rPr>
              <a:t>metric → debug/probe modu</a:t>
            </a:r>
            <a:endParaRPr lang="en-US" sz="1240" dirty="0"/>
          </a:p>
          <a:p>
            <a:r>
              <a:rPr lang="en-US" sz="1240" dirty="0">
                <a:solidFill>
                  <a:srgbClr val="F7FAFC"/>
                </a:solidFill>
              </a:rPr>
              <a:t>evaluate → final otomasyon modu</a:t>
            </a:r>
            <a:endParaRPr lang="en-US" sz="1240" dirty="0"/>
          </a:p>
          <a:p>
            <a:r>
              <a:rPr lang="en-US" sz="1240" dirty="0">
                <a:solidFill>
                  <a:srgbClr val="F7FAFC"/>
                </a:solidFill>
              </a:rPr>
              <a:t>İkinci argüman metric override olabilir</a:t>
            </a:r>
            <a:endParaRPr lang="en-US" sz="1240" dirty="0"/>
          </a:p>
          <a:p>
            <a:r>
              <a:rPr lang="en-US" sz="1240" dirty="0">
                <a:solidFill>
                  <a:srgbClr val="F7FAFC"/>
                </a:solidFill>
              </a:rPr>
              <a:t>stdout sadece JSON result olmalı</a:t>
            </a:r>
            <a:endParaRPr lang="en-US" sz="1240" dirty="0"/>
          </a:p>
        </p:txBody>
      </p:sp>
      <p:sp>
        <p:nvSpPr>
          <p:cNvPr id="13" name="Shape 11"/>
          <p:cNvSpPr/>
          <p:nvPr/>
        </p:nvSpPr>
        <p:spPr>
          <a:xfrm>
            <a:off x="1280160" y="5074920"/>
            <a:ext cx="9646920" cy="566928"/>
          </a:xfrm>
          <a:prstGeom prst="roundRect">
            <a:avLst>
              <a:gd name="adj" fmla="val 19355"/>
            </a:avLst>
          </a:prstGeom>
          <a:solidFill>
            <a:srgbClr val="0E3144"/>
          </a:solidFill>
          <a:ln w="8890">
            <a:solidFill>
              <a:srgbClr val="F39B3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1554480" y="5230368"/>
            <a:ext cx="909828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 kural: Python paketi chatbot’u bilmez; Java’dan gelen evaluation_input.json değerini değerlendirir.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384280" y="6725412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A8B7C4"/>
                </a:solidFill>
              </a:rPr>
              <a:t>13</a:t>
            </a:r>
            <a:endParaRPr lang="en-US" sz="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6"/>
          </a:solidFill>
          <a:ln w="12700">
            <a:solidFill>
              <a:srgbClr val="0718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C7B7"/>
          </a:solidFill>
          <a:ln w="12700">
            <a:solidFill>
              <a:srgbClr val="20C7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6131D"/>
          </a:solidFill>
          <a:ln w="12700">
            <a:solidFill>
              <a:srgbClr val="06131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384048" y="6734556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 Entegrasyonu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475488" y="32004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Java tarafı DeepEval sonucunu nasıl bekler?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93776" y="768096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8B7C4"/>
                </a:solidFill>
              </a:rPr>
              <a:t>ProcessBuilder ile Python CLI başlatılır, waitFor ile tamamlanması beklenir.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1234440"/>
            <a:ext cx="5669280" cy="3063240"/>
          </a:xfrm>
          <a:prstGeom prst="roundRect">
            <a:avLst>
              <a:gd name="adj" fmla="val 3582"/>
            </a:avLst>
          </a:prstGeom>
          <a:solidFill>
            <a:srgbClr val="0B1220"/>
          </a:solidFill>
          <a:ln w="8890">
            <a:solidFill>
              <a:srgbClr val="233B5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923544" y="1380744"/>
            <a:ext cx="5376672" cy="2770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B7C9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ProcessBuilder pb = new ProcessBuilder(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B7C9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pythonPath, "-m", "chatbot_eval",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B7C9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"evaluate", inputJson.toString()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B7C9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);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B7C9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Process p = pb.start();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B7C9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boolean finished = p.waitFor(timeout, SECONDS);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B7C9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int exitCode = p.exitValue();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6903720" y="1234440"/>
            <a:ext cx="4434840" cy="3063240"/>
          </a:xfrm>
          <a:prstGeom prst="roundRect">
            <a:avLst>
              <a:gd name="adj" fmla="val 3582"/>
            </a:avLst>
          </a:prstGeom>
          <a:solidFill>
            <a:srgbClr val="102C3D"/>
          </a:solidFill>
          <a:ln w="889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7178040" y="1600200"/>
            <a:ext cx="36576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58A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code standardı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269480" y="2148840"/>
            <a:ext cx="228600" cy="228600"/>
          </a:xfrm>
          <a:prstGeom prst="ellipse">
            <a:avLst/>
          </a:prstGeom>
          <a:solidFill>
            <a:srgbClr val="6BCB77"/>
          </a:solidFill>
          <a:ln w="12700">
            <a:solidFill>
              <a:srgbClr val="6BCB7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7589520" y="2130552"/>
            <a:ext cx="19202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→ PASS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269480" y="2606040"/>
            <a:ext cx="228600" cy="228600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7589520" y="2587752"/>
            <a:ext cx="19202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→ FAIL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269480" y="3063240"/>
            <a:ext cx="228600" cy="228600"/>
          </a:xfrm>
          <a:prstGeom prst="ellipse">
            <a:avLst/>
          </a:prstGeom>
          <a:solidFill>
            <a:srgbClr val="EF6262"/>
          </a:solidFill>
          <a:ln w="12700">
            <a:solidFill>
              <a:srgbClr val="EF626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7589520" y="3044952"/>
            <a:ext cx="19202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→ ERROR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05840" y="4800600"/>
            <a:ext cx="4800600" cy="685800"/>
          </a:xfrm>
          <a:prstGeom prst="roundRect">
            <a:avLst>
              <a:gd name="adj" fmla="val 16000"/>
            </a:avLst>
          </a:prstGeom>
          <a:solidFill>
            <a:srgbClr val="0D2A3B"/>
          </a:solidFill>
          <a:ln w="889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1234440" y="5010912"/>
            <a:ext cx="43434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BC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stdout = sadece JSON result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0" y="4800600"/>
            <a:ext cx="4800600" cy="685800"/>
          </a:xfrm>
          <a:prstGeom prst="roundRect">
            <a:avLst>
              <a:gd name="adj" fmla="val 16000"/>
            </a:avLst>
          </a:prstGeom>
          <a:solidFill>
            <a:srgbClr val="2A1721"/>
          </a:solidFill>
          <a:ln w="8890">
            <a:solidFill>
              <a:srgbClr val="EF626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6629400" y="5010912"/>
            <a:ext cx="43434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9B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stderr = log / warning / traceback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384280" y="6725412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A8B7C4"/>
                </a:solidFill>
              </a:rPr>
              <a:t>14</a:t>
            </a:r>
            <a:endParaRPr lang="en-US" sz="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6"/>
          </a:solidFill>
          <a:ln w="12700">
            <a:solidFill>
              <a:srgbClr val="0718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C7B7"/>
          </a:solidFill>
          <a:ln w="12700">
            <a:solidFill>
              <a:srgbClr val="20C7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6131D"/>
          </a:solidFill>
          <a:ln w="12700">
            <a:solidFill>
              <a:srgbClr val="06131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384048" y="6734556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Gherkin &amp; Cucumber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475488" y="32004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Gherkin tasarımı: test_id referanslı senaryolar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93776" y="768096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8B7C4"/>
                </a:solidFill>
              </a:rPr>
              <a:t>Feature dosyası okunur kalır; golden dataset tek source of truth olur.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1234440"/>
            <a:ext cx="5669280" cy="274320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 w="8890">
            <a:solidFill>
              <a:srgbClr val="233B5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923544" y="1380744"/>
            <a:ext cx="5376672" cy="2450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B7C9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@deepeval @multi_turn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B7C9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Scenario: Chatbot kullanıcı düzeltmesini dikkate alır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B7C9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Given golden multi-turn test case "MT-005" yüklenir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B7C9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When kullanıcı konuşmayı chatbot arayüzünde tamamlar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B7C9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Then DeepEval sonucu PASS olmalıdır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6903720" y="1234440"/>
            <a:ext cx="4434840" cy="2743200"/>
          </a:xfrm>
          <a:prstGeom prst="roundRect">
            <a:avLst>
              <a:gd name="adj" fmla="val 4000"/>
            </a:avLst>
          </a:prstGeom>
          <a:solidFill>
            <a:srgbClr val="102C3D"/>
          </a:solidFill>
          <a:ln w="8890">
            <a:solidFill>
              <a:srgbClr val="20C7B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7178040" y="1572768"/>
            <a:ext cx="38404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72E5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Neden bu tasarım?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223760" y="2057400"/>
            <a:ext cx="361188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20" dirty="0">
                <a:solidFill>
                  <a:srgbClr val="F7FAFC"/>
                </a:solidFill>
              </a:rPr>
              <a:t>Gherkin sade kalır</a:t>
            </a:r>
            <a:endParaRPr lang="en-US" sz="1220" dirty="0"/>
          </a:p>
          <a:p>
            <a:r>
              <a:rPr lang="en-US" sz="1220" dirty="0">
                <a:solidFill>
                  <a:srgbClr val="F7FAFC"/>
                </a:solidFill>
              </a:rPr>
              <a:t>Metric bilgisi dataset içinde kalır</a:t>
            </a:r>
            <a:endParaRPr lang="en-US" sz="1220" dirty="0"/>
          </a:p>
          <a:p>
            <a:r>
              <a:rPr lang="en-US" sz="1220" dirty="0">
                <a:solidFill>
                  <a:srgbClr val="F7FAFC"/>
                </a:solidFill>
              </a:rPr>
              <a:t>Yeni case eklemek kolaydır</a:t>
            </a:r>
            <a:endParaRPr lang="en-US" sz="1220" dirty="0"/>
          </a:p>
          <a:p>
            <a:r>
              <a:rPr lang="en-US" sz="1220" dirty="0">
                <a:solidFill>
                  <a:srgbClr val="F7FAFC"/>
                </a:solidFill>
              </a:rPr>
              <a:t>Java/Python JSON contract netleşir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777240" y="4617720"/>
            <a:ext cx="10561320" cy="713232"/>
          </a:xfrm>
          <a:prstGeom prst="roundRect">
            <a:avLst>
              <a:gd name="adj" fmla="val 15385"/>
            </a:avLst>
          </a:prstGeom>
          <a:solidFill>
            <a:srgbClr val="0E3144"/>
          </a:solidFill>
          <a:ln w="8890">
            <a:solidFill>
              <a:srgbClr val="F39B3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1024128" y="4828032"/>
            <a:ext cx="100584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Debug ihtiyacı için: Then "correction_handling" metriği PASS olmalıdır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384280" y="6725412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A8B7C4"/>
                </a:solidFill>
              </a:rPr>
              <a:t>15</a:t>
            </a:r>
            <a:endParaRPr lang="en-US" sz="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6"/>
          </a:solidFill>
          <a:ln w="12700">
            <a:solidFill>
              <a:srgbClr val="0718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C7B7"/>
          </a:solidFill>
          <a:ln w="12700">
            <a:solidFill>
              <a:srgbClr val="20C7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6131D"/>
          </a:solidFill>
          <a:ln w="12700">
            <a:solidFill>
              <a:srgbClr val="06131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384048" y="6734556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 Yönetimi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475488" y="32004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Her scenario için izlenebilir artifact üretimi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93776" y="768096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8B7C4"/>
                </a:solidFill>
              </a:rPr>
              <a:t>Fail durumunda sadece skor değil, tüm konuşma ve hata bağlamı saklanır.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1234440"/>
            <a:ext cx="4892040" cy="3337560"/>
          </a:xfrm>
          <a:prstGeom prst="roundRect">
            <a:avLst>
              <a:gd name="adj" fmla="val 3288"/>
            </a:avLst>
          </a:prstGeom>
          <a:solidFill>
            <a:srgbClr val="0B1220"/>
          </a:solidFill>
          <a:ln w="8890">
            <a:solidFill>
              <a:srgbClr val="233B5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923544" y="1380744"/>
            <a:ext cx="4599432" cy="3044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B7C9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target/deepeval-artifacts/MT-005/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B7C9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evaluation_input.json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B7C9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evaluation_result.json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B7C9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conversation.json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B7C9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browser_screenshot.png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B7C9D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selenium.log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6400800" y="1234440"/>
            <a:ext cx="4892040" cy="3337560"/>
          </a:xfrm>
          <a:prstGeom prst="roundRect">
            <a:avLst>
              <a:gd name="adj" fmla="val 3288"/>
            </a:avLst>
          </a:prstGeom>
          <a:solidFill>
            <a:srgbClr val="102C3D"/>
          </a:solidFill>
          <a:ln w="8890">
            <a:solidFill>
              <a:srgbClr val="B987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6720840" y="1572768"/>
            <a:ext cx="4114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B98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Neyi hızlandırır?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766560" y="2057400"/>
            <a:ext cx="384048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50" dirty="0">
                <a:solidFill>
                  <a:srgbClr val="F7FAFC"/>
                </a:solidFill>
              </a:rPr>
              <a:t>Fail root-cause analizi</a:t>
            </a:r>
            <a:endParaRPr lang="en-US" sz="1250" dirty="0"/>
          </a:p>
          <a:p>
            <a:r>
              <a:rPr lang="en-US" sz="1250" dirty="0">
                <a:solidFill>
                  <a:srgbClr val="F7FAFC"/>
                </a:solidFill>
              </a:rPr>
              <a:t>Selenium UI problemi mi chatbot cevabı mı ayrımı</a:t>
            </a:r>
            <a:endParaRPr lang="en-US" sz="1250" dirty="0"/>
          </a:p>
          <a:p>
            <a:r>
              <a:rPr lang="en-US" sz="1250" dirty="0">
                <a:solidFill>
                  <a:srgbClr val="F7FAFC"/>
                </a:solidFill>
              </a:rPr>
              <a:t>Metric reason + threshold görünürlüğü</a:t>
            </a:r>
            <a:endParaRPr lang="en-US" sz="1250" dirty="0"/>
          </a:p>
          <a:p>
            <a:r>
              <a:rPr lang="en-US" sz="1250" dirty="0">
                <a:solidFill>
                  <a:srgbClr val="F7FAFC"/>
                </a:solidFill>
              </a:rPr>
              <a:t>Regression geçmişinde kanıt saklama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554480" y="5166360"/>
            <a:ext cx="9052560" cy="502920"/>
          </a:xfrm>
          <a:prstGeom prst="roundRect">
            <a:avLst>
              <a:gd name="adj" fmla="val 21818"/>
            </a:avLst>
          </a:prstGeom>
          <a:solidFill>
            <a:srgbClr val="0E3144"/>
          </a:solidFill>
          <a:ln w="8890">
            <a:solidFill>
              <a:srgbClr val="20C7B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1783080" y="5321808"/>
            <a:ext cx="8595360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 olmadan FAIL sadece “kırmızı test”tir; artifact ile davranış kanıtına dönüşür.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384280" y="6725412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A8B7C4"/>
                </a:solidFill>
              </a:rPr>
              <a:t>16</a:t>
            </a:r>
            <a:endParaRPr lang="en-US" sz="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6"/>
          </a:solidFill>
          <a:ln w="12700">
            <a:solidFill>
              <a:srgbClr val="0718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C7B7"/>
          </a:solidFill>
          <a:ln w="12700">
            <a:solidFill>
              <a:srgbClr val="20C7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6131D"/>
          </a:solidFill>
          <a:ln w="12700">
            <a:solidFill>
              <a:srgbClr val="06131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384048" y="6734556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Tooling &amp; Environment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475488" y="32004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Seçilen araçlar ve önemli teknik notlar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93776" y="768096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8B7C4"/>
                </a:solidFill>
              </a:rPr>
              <a:t>Mevcut geliştirme ortamı çalışıyor; stabilite için bazı riskler bilerek not edildi.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1417320"/>
            <a:ext cx="3063240" cy="1005840"/>
          </a:xfrm>
          <a:prstGeom prst="roundRect">
            <a:avLst>
              <a:gd name="adj" fmla="val 10909"/>
            </a:avLst>
          </a:prstGeom>
          <a:solidFill>
            <a:srgbClr val="102C3D"/>
          </a:solidFill>
          <a:ln w="889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896112" y="1618488"/>
            <a:ext cx="9601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8A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48840" y="1618488"/>
            <a:ext cx="135331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3.13.5 + venv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80560" y="1417320"/>
            <a:ext cx="3063240" cy="1005840"/>
          </a:xfrm>
          <a:prstGeom prst="roundRect">
            <a:avLst>
              <a:gd name="adj" fmla="val 10909"/>
            </a:avLst>
          </a:prstGeom>
          <a:solidFill>
            <a:srgbClr val="102C3D"/>
          </a:solidFill>
          <a:ln w="8890">
            <a:solidFill>
              <a:srgbClr val="20C7B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645152" y="1618488"/>
            <a:ext cx="9601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0C7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DeepEval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97880" y="1618488"/>
            <a:ext cx="135331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4.0.5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0" y="1417320"/>
            <a:ext cx="3063240" cy="1005840"/>
          </a:xfrm>
          <a:prstGeom prst="roundRect">
            <a:avLst>
              <a:gd name="adj" fmla="val 10909"/>
            </a:avLst>
          </a:prstGeom>
          <a:solidFill>
            <a:srgbClr val="102C3D"/>
          </a:solidFill>
          <a:ln w="8890">
            <a:solidFill>
              <a:srgbClr val="F39B3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8394192" y="1618488"/>
            <a:ext cx="9601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39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46920" y="1618488"/>
            <a:ext cx="135331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 + Maven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1520" y="2880360"/>
            <a:ext cx="3063240" cy="1005840"/>
          </a:xfrm>
          <a:prstGeom prst="roundRect">
            <a:avLst>
              <a:gd name="adj" fmla="val 10909"/>
            </a:avLst>
          </a:prstGeom>
          <a:solidFill>
            <a:srgbClr val="102C3D"/>
          </a:solidFill>
          <a:ln w="889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896112" y="3081528"/>
            <a:ext cx="9601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BC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Selenium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48840" y="3081528"/>
            <a:ext cx="135331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4.27.0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480560" y="2880360"/>
            <a:ext cx="3063240" cy="1005840"/>
          </a:xfrm>
          <a:prstGeom prst="roundRect">
            <a:avLst>
              <a:gd name="adj" fmla="val 10909"/>
            </a:avLst>
          </a:prstGeom>
          <a:solidFill>
            <a:srgbClr val="102C3D"/>
          </a:solidFill>
          <a:ln w="8890">
            <a:solidFill>
              <a:srgbClr val="B987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4645152" y="3081528"/>
            <a:ext cx="9601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98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Cucumber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97880" y="3081528"/>
            <a:ext cx="135331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7.20.1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229600" y="2880360"/>
            <a:ext cx="3063240" cy="1005840"/>
          </a:xfrm>
          <a:prstGeom prst="roundRect">
            <a:avLst>
              <a:gd name="adj" fmla="val 10909"/>
            </a:avLst>
          </a:prstGeom>
          <a:solidFill>
            <a:srgbClr val="102C3D"/>
          </a:solidFill>
          <a:ln w="8890">
            <a:solidFill>
              <a:srgbClr val="F6C8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8394192" y="3081528"/>
            <a:ext cx="9601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6C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46920" y="3081528"/>
            <a:ext cx="135331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OpenRouterModel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14400" y="4800600"/>
            <a:ext cx="10378440" cy="731520"/>
          </a:xfrm>
          <a:prstGeom prst="roundRect">
            <a:avLst>
              <a:gd name="adj" fmla="val 15000"/>
            </a:avLst>
          </a:prstGeom>
          <a:solidFill>
            <a:srgbClr val="2A2411"/>
          </a:solidFill>
          <a:ln w="8890">
            <a:solidFill>
              <a:srgbClr val="F6C8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1234440" y="5020056"/>
            <a:ext cx="9829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OpenRouter/free stabil değildir: ileride sabit :free model ID seçmek ve chatbot/judge modelini ayırmak daha doğru.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384280" y="6725412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A8B7C4"/>
                </a:solidFill>
              </a:rPr>
              <a:t>17</a:t>
            </a:r>
            <a:endParaRPr lang="en-US" sz="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6"/>
          </a:solidFill>
          <a:ln w="12700">
            <a:solidFill>
              <a:srgbClr val="0718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C7B7"/>
          </a:solidFill>
          <a:ln w="12700">
            <a:solidFill>
              <a:srgbClr val="20C7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6131D"/>
          </a:solidFill>
          <a:ln w="12700">
            <a:solidFill>
              <a:srgbClr val="06131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384048" y="6734556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Portföyü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475488" y="32004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Multi-turn golden dataset genişletme planı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93776" y="768096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8B7C4"/>
                </a:solidFill>
              </a:rPr>
              <a:t>Her metric için 3 case hedefi ile debug CLI rastgele seçim yapabilir.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5074920"/>
            <a:ext cx="15544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conversation_memory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1234440" y="2514600"/>
            <a:ext cx="731520" cy="1508760"/>
          </a:xfrm>
          <a:prstGeom prst="rect">
            <a:avLst/>
          </a:prstGeom>
          <a:solidFill>
            <a:srgbClr val="6BCB77"/>
          </a:solidFill>
          <a:ln w="12700">
            <a:solidFill>
              <a:srgbClr val="6BCB7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1234440" y="2331720"/>
            <a:ext cx="7315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08960" y="5074920"/>
            <a:ext cx="15544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context_retention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3474720" y="2514600"/>
            <a:ext cx="731520" cy="1508760"/>
          </a:xfrm>
          <a:prstGeom prst="rect">
            <a:avLst/>
          </a:prstGeom>
          <a:solidFill>
            <a:srgbClr val="20C7B7"/>
          </a:solidFill>
          <a:ln w="12700">
            <a:solidFill>
              <a:srgbClr val="20C7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3474720" y="2331720"/>
            <a:ext cx="7315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49240" y="5074920"/>
            <a:ext cx="15544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coreference_resolution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5715000" y="2514600"/>
            <a:ext cx="731520" cy="150876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5715000" y="2331720"/>
            <a:ext cx="7315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589520" y="5074920"/>
            <a:ext cx="15544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instruction_persistence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7955280" y="2514600"/>
            <a:ext cx="731520" cy="1508760"/>
          </a:xfrm>
          <a:prstGeom prst="rect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7955280" y="2331720"/>
            <a:ext cx="7315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829800" y="5074920"/>
            <a:ext cx="15544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correction_handling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10195560" y="2514600"/>
            <a:ext cx="731520" cy="1508760"/>
          </a:xfrm>
          <a:prstGeom prst="rect">
            <a:avLst/>
          </a:prstGeom>
          <a:solidFill>
            <a:srgbClr val="F39B3D"/>
          </a:solidFill>
          <a:ln w="12700">
            <a:solidFill>
              <a:srgbClr val="F39B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10195560" y="2331720"/>
            <a:ext cx="7315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22960" y="4023360"/>
            <a:ext cx="10698480" cy="0"/>
          </a:xfrm>
          <a:prstGeom prst="line">
            <a:avLst/>
          </a:prstGeom>
          <a:noFill/>
          <a:ln w="12700">
            <a:solidFill>
              <a:srgbClr val="36576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1234440" y="1188720"/>
            <a:ext cx="9784080" cy="640080"/>
          </a:xfrm>
          <a:prstGeom prst="roundRect">
            <a:avLst>
              <a:gd name="adj" fmla="val 17143"/>
            </a:avLst>
          </a:prstGeom>
          <a:solidFill>
            <a:srgbClr val="0E3144"/>
          </a:solidFill>
          <a:ln w="8890">
            <a:solidFill>
              <a:srgbClr val="20C7B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1463040" y="1389888"/>
            <a:ext cx="932688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&lt;metric_key&gt; komutu test_id yoksa metric_focus eşleşen 3 örnekten rastgele birini seçer.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384280" y="6725412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A8B7C4"/>
                </a:solidFill>
              </a:rPr>
              <a:t>18</a:t>
            </a:r>
            <a:endParaRPr lang="en-US" sz="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6"/>
          </a:solidFill>
          <a:ln w="12700">
            <a:solidFill>
              <a:srgbClr val="0718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C7B7"/>
          </a:solidFill>
          <a:ln w="12700">
            <a:solidFill>
              <a:srgbClr val="20C7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6131D"/>
          </a:solidFill>
          <a:ln w="12700">
            <a:solidFill>
              <a:srgbClr val="06131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384048" y="6734556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Riskler &amp; Önlemler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475488" y="32004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Bilinen riskler ve kontrol noktaları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93776" y="768096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8B7C4"/>
                </a:solidFill>
              </a:rPr>
              <a:t>Hedef: flaky testleri gerçek chatbot davranışıyla teknik hatadan ayırmak.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" y="1234440"/>
            <a:ext cx="5257800" cy="1078992"/>
          </a:xfrm>
          <a:prstGeom prst="roundRect">
            <a:avLst>
              <a:gd name="adj" fmla="val 10169"/>
            </a:avLst>
          </a:prstGeom>
          <a:solidFill>
            <a:srgbClr val="102C3D"/>
          </a:solidFill>
          <a:ln w="8890">
            <a:solidFill>
              <a:srgbClr val="20C7B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886968" y="1435608"/>
            <a:ext cx="25603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OpenRouter/free instability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3566160" y="1435608"/>
            <a:ext cx="20116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Sabit model ID ve chatbot/judge ayrımı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355080" y="1234440"/>
            <a:ext cx="5257800" cy="1078992"/>
          </a:xfrm>
          <a:prstGeom prst="roundRect">
            <a:avLst>
              <a:gd name="adj" fmla="val 10169"/>
            </a:avLst>
          </a:prstGeom>
          <a:solidFill>
            <a:srgbClr val="102C3D"/>
          </a:solidFill>
          <a:ln w="8890">
            <a:solidFill>
              <a:srgbClr val="F39B3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6556248" y="1435608"/>
            <a:ext cx="25603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DeepEval loglarının stdout’u bozması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9235440" y="1435608"/>
            <a:ext cx="20116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stdout sadece JSON; loglar stderr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85800" y="2651760"/>
            <a:ext cx="5257800" cy="1078992"/>
          </a:xfrm>
          <a:prstGeom prst="roundRect">
            <a:avLst>
              <a:gd name="adj" fmla="val 10169"/>
            </a:avLst>
          </a:prstGeom>
          <a:solidFill>
            <a:srgbClr val="102C3D"/>
          </a:solidFill>
          <a:ln w="8890">
            <a:solidFill>
              <a:srgbClr val="20C7B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886968" y="2852928"/>
            <a:ext cx="25603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Selenium locator kırılması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3566160" y="2852928"/>
            <a:ext cx="20116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data-testid ve artifact screenshot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355080" y="2651760"/>
            <a:ext cx="5257800" cy="1078992"/>
          </a:xfrm>
          <a:prstGeom prst="roundRect">
            <a:avLst>
              <a:gd name="adj" fmla="val 10169"/>
            </a:avLst>
          </a:prstGeom>
          <a:solidFill>
            <a:srgbClr val="102C3D"/>
          </a:solidFill>
          <a:ln w="8890">
            <a:solidFill>
              <a:srgbClr val="F39B3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6556248" y="2852928"/>
            <a:ext cx="25603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Rate limit / timeout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9235440" y="2852928"/>
            <a:ext cx="20116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statüsü + retry/batch planı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85800" y="4069080"/>
            <a:ext cx="5257800" cy="1078992"/>
          </a:xfrm>
          <a:prstGeom prst="roundRect">
            <a:avLst>
              <a:gd name="adj" fmla="val 10169"/>
            </a:avLst>
          </a:prstGeom>
          <a:solidFill>
            <a:srgbClr val="102C3D"/>
          </a:solidFill>
          <a:ln w="8890">
            <a:solidFill>
              <a:srgbClr val="20C7B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886968" y="4270248"/>
            <a:ext cx="25603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Judge prompt sapması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3566160" y="4270248"/>
            <a:ext cx="20116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Daha net evaluation_steps + case artifact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6355080" y="4069080"/>
            <a:ext cx="5257800" cy="1078992"/>
          </a:xfrm>
          <a:prstGeom prst="roundRect">
            <a:avLst>
              <a:gd name="adj" fmla="val 10169"/>
            </a:avLst>
          </a:prstGeom>
          <a:solidFill>
            <a:srgbClr val="102C3D"/>
          </a:solidFill>
          <a:ln w="8890">
            <a:solidFill>
              <a:srgbClr val="F39B3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6556248" y="4270248"/>
            <a:ext cx="25603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Golden dataset kopyalanması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9235440" y="4270248"/>
            <a:ext cx="20116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 source of truth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11384280" y="6725412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A8B7C4"/>
                </a:solidFill>
              </a:rPr>
              <a:t>19</a:t>
            </a:r>
            <a:endParaRPr lang="en-US" sz="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6"/>
          </a:solidFill>
          <a:ln w="12700">
            <a:solidFill>
              <a:srgbClr val="0718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C7B7"/>
          </a:solidFill>
          <a:ln w="12700">
            <a:solidFill>
              <a:srgbClr val="20C7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6131D"/>
          </a:solidFill>
          <a:ln w="12700">
            <a:solidFill>
              <a:srgbClr val="06131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384048" y="6734556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Sonraki Adımlar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475488" y="32004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Net yol haritası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93776" y="768096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8B7C4"/>
                </a:solidFill>
              </a:rPr>
              <a:t>Önce CLI + JSON engine, sonra Java entegrasyonu, sonra batch/servis seçenekleri.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1600200"/>
            <a:ext cx="1417320" cy="3429000"/>
          </a:xfrm>
          <a:prstGeom prst="roundRect">
            <a:avLst>
              <a:gd name="adj" fmla="val 7742"/>
            </a:avLst>
          </a:prstGeom>
          <a:solidFill>
            <a:srgbClr val="102C3D"/>
          </a:solidFill>
          <a:ln w="889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1316736" y="1874520"/>
            <a:ext cx="411480" cy="411480"/>
          </a:xfrm>
          <a:prstGeom prst="ellipse">
            <a:avLst/>
          </a:prstGeom>
          <a:solidFill>
            <a:srgbClr val="6BCB77"/>
          </a:solidFill>
          <a:ln w="12700">
            <a:solidFill>
              <a:srgbClr val="6BCB7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1316736" y="1975104"/>
            <a:ext cx="41148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8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87552" y="2514600"/>
            <a:ext cx="107899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package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87552" y="3246120"/>
            <a:ext cx="1078992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chatbot_eval CLI ve evaluator modülleri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2697480" y="1600200"/>
            <a:ext cx="1417320" cy="3429000"/>
          </a:xfrm>
          <a:prstGeom prst="roundRect">
            <a:avLst>
              <a:gd name="adj" fmla="val 7742"/>
            </a:avLst>
          </a:prstGeom>
          <a:solidFill>
            <a:srgbClr val="14384D"/>
          </a:solidFill>
          <a:ln w="8890">
            <a:solidFill>
              <a:srgbClr val="20C7B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3191256" y="1874520"/>
            <a:ext cx="411480" cy="411480"/>
          </a:xfrm>
          <a:prstGeom prst="ellipse">
            <a:avLst/>
          </a:prstGeom>
          <a:solidFill>
            <a:srgbClr val="20C7B7"/>
          </a:solidFill>
          <a:ln w="12700">
            <a:solidFill>
              <a:srgbClr val="20C7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3191256" y="1975104"/>
            <a:ext cx="41148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8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862072" y="2514600"/>
            <a:ext cx="107899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contract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862072" y="3246120"/>
            <a:ext cx="1078992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input/result schema ve result_builder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4572000" y="1600200"/>
            <a:ext cx="1417320" cy="3429000"/>
          </a:xfrm>
          <a:prstGeom prst="roundRect">
            <a:avLst>
              <a:gd name="adj" fmla="val 7742"/>
            </a:avLst>
          </a:prstGeom>
          <a:solidFill>
            <a:srgbClr val="102C3D"/>
          </a:solidFill>
          <a:ln w="889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5065776" y="1874520"/>
            <a:ext cx="411480" cy="41148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5065776" y="1975104"/>
            <a:ext cx="41148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8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36592" y="2514600"/>
            <a:ext cx="107899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 bridge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736592" y="3246120"/>
            <a:ext cx="1078992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DeepEvalClient + ProcessBuilder + artifacts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6446520" y="1600200"/>
            <a:ext cx="1417320" cy="3429000"/>
          </a:xfrm>
          <a:prstGeom prst="roundRect">
            <a:avLst>
              <a:gd name="adj" fmla="val 7742"/>
            </a:avLst>
          </a:prstGeom>
          <a:solidFill>
            <a:srgbClr val="14384D"/>
          </a:solidFill>
          <a:ln w="8890">
            <a:solidFill>
              <a:srgbClr val="F6C8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6940296" y="1874520"/>
            <a:ext cx="411480" cy="411480"/>
          </a:xfrm>
          <a:prstGeom prst="ellipse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6940296" y="1975104"/>
            <a:ext cx="41148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8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611112" y="2514600"/>
            <a:ext cx="107899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Cucumber scenarios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611112" y="3246120"/>
            <a:ext cx="1078992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test_id referanslı feature dosyaları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8321040" y="1600200"/>
            <a:ext cx="1417320" cy="3429000"/>
          </a:xfrm>
          <a:prstGeom prst="roundRect">
            <a:avLst>
              <a:gd name="adj" fmla="val 7742"/>
            </a:avLst>
          </a:prstGeom>
          <a:solidFill>
            <a:srgbClr val="102C3D"/>
          </a:solidFill>
          <a:ln w="8890">
            <a:solidFill>
              <a:srgbClr val="F39B3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8814816" y="1874520"/>
            <a:ext cx="411480" cy="411480"/>
          </a:xfrm>
          <a:prstGeom prst="ellipse">
            <a:avLst/>
          </a:prstGeom>
          <a:solidFill>
            <a:srgbClr val="F39B3D"/>
          </a:solidFill>
          <a:ln w="12700">
            <a:solidFill>
              <a:srgbClr val="F39B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8814816" y="1975104"/>
            <a:ext cx="41148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8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485632" y="2514600"/>
            <a:ext cx="107899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Hardening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485632" y="3246120"/>
            <a:ext cx="1078992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stdout/stderr, timeout, model stabilitesi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10195560" y="1600200"/>
            <a:ext cx="1417320" cy="3429000"/>
          </a:xfrm>
          <a:prstGeom prst="roundRect">
            <a:avLst>
              <a:gd name="adj" fmla="val 7742"/>
            </a:avLst>
          </a:prstGeom>
          <a:solidFill>
            <a:srgbClr val="14384D"/>
          </a:solidFill>
          <a:ln w="8890">
            <a:solidFill>
              <a:srgbClr val="B987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Shape 32"/>
          <p:cNvSpPr/>
          <p:nvPr/>
        </p:nvSpPr>
        <p:spPr>
          <a:xfrm>
            <a:off x="10689336" y="1874520"/>
            <a:ext cx="411480" cy="411480"/>
          </a:xfrm>
          <a:prstGeom prst="ellipse">
            <a:avLst/>
          </a:prstGeom>
          <a:solidFill>
            <a:srgbClr val="B987FF"/>
          </a:solidFill>
          <a:ln w="12700">
            <a:solidFill>
              <a:srgbClr val="B98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10689336" y="1975104"/>
            <a:ext cx="41148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8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0360152" y="2514600"/>
            <a:ext cx="107899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0360152" y="3246120"/>
            <a:ext cx="1078992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A8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evaluate-batch / raporlama / CI entegrasyonu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1828800" y="5596128"/>
            <a:ext cx="8595360" cy="502920"/>
          </a:xfrm>
          <a:prstGeom prst="roundRect">
            <a:avLst>
              <a:gd name="adj" fmla="val 21818"/>
            </a:avLst>
          </a:prstGeom>
          <a:solidFill>
            <a:srgbClr val="0E3144"/>
          </a:solidFill>
          <a:ln w="8890">
            <a:solidFill>
              <a:srgbClr val="20C7B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2103120" y="5751576"/>
            <a:ext cx="8046720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önemli mimari cümle: Java chatbot’u black-box oynatır; Python yalnızca çıktıyı değerlendirir.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1384280" y="6725412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A8B7C4"/>
                </a:solidFill>
              </a:rPr>
              <a:t>20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1679</Words>
  <Application>Microsoft Office PowerPoint</Application>
  <PresentationFormat>Geniş ekran</PresentationFormat>
  <Paragraphs>360</Paragraphs>
  <Slides>20</Slides>
  <Notes>20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Cascadia Mono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Project deck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Black-box Chatbot / RAG Evaluation Automation</dc:title>
  <dc:subject>DeepEval + Java Selenium architecture</dc:subject>
  <dc:creator>OpenAI</dc:creator>
  <cp:lastModifiedBy>Fatih Yunus Yıldız</cp:lastModifiedBy>
  <cp:revision>2</cp:revision>
  <dcterms:created xsi:type="dcterms:W3CDTF">2026-07-10T23:58:07Z</dcterms:created>
  <dcterms:modified xsi:type="dcterms:W3CDTF">2026-07-16T21:04:39Z</dcterms:modified>
</cp:coreProperties>
</file>